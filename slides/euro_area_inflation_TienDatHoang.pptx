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2.xml" ContentType="application/vnd.openxmlformats-officedocument.drawingml.chart+xml"/>
  <Override PartName="/ppt/notesSlides/notesSlide4.xml" ContentType="application/vnd.openxmlformats-officedocument.presentationml.notesSlide+xml"/>
  <Override PartName="/ppt/charts/chart3.xml" ContentType="application/vnd.openxmlformats-officedocument.drawingml.chart+xml"/>
  <Override PartName="/ppt/notesSlides/notesSlide5.xml" ContentType="application/vnd.openxmlformats-officedocument.presentationml.notesSlide+xml"/>
  <Override PartName="/ppt/charts/chart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orecast" id="{78E24210-CC6D-664B-46AC-F5B19743BD50}">
          <p14:sldIdLst>
            <p14:sldId id="256"/>
          </p14:sldIdLst>
        </p14:section>
        <p14:section name="Data" id="{CBD62D72-15CB-37F0-33B6-2448E83106BE}">
          <p14:sldIdLst>
            <p14:sldId id="257"/>
          </p14:sldIdLst>
        </p14:section>
        <p14:section name="Model" id="{D5C6F964-4870-4594-CA82-3D4357BBC8F8}">
          <p14:sldIdLst>
            <p14:sldId id="258"/>
          </p14:sldIdLst>
        </p14:section>
        <p14:section name="Shocks" id="{7BC0035E-F42C-3568-97CE-75C7DDB60095}">
          <p14:sldIdLst>
            <p14:sldId id="259"/>
          </p14:sldIdLst>
        </p14:section>
        <p14:section name="Next" id="{FD0E5F86-6E46-0237-CDCD-A04AEEB26A37}">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5" d="100"/>
          <a:sy n="125" d="100"/>
        </p:scale>
        <p:origin x="23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90% band, upper</c:v>
                </c:pt>
              </c:strCache>
            </c:strRef>
          </c:tx>
          <c:spPr>
            <a:ln w="19050" cap="flat">
              <a:solidFill>
                <a:srgbClr val="87CEFA"/>
              </a:solidFill>
              <a:prstDash val="dash"/>
              <a:round/>
            </a:ln>
            <a:effectLst/>
          </c:spPr>
          <c:marker>
            <c:symbol val="none"/>
          </c:marker>
          <c:cat>
            <c:strRef>
              <c:f>Sheet1!$A$2:$A$25</c:f>
              <c:strCache>
                <c:ptCount val="24"/>
                <c:pt idx="0">
                  <c:v>Jan 25</c:v>
                </c:pt>
                <c:pt idx="3">
                  <c:v>Apr 25</c:v>
                </c:pt>
                <c:pt idx="6">
                  <c:v>Jul 25</c:v>
                </c:pt>
                <c:pt idx="9">
                  <c:v>Oct 25</c:v>
                </c:pt>
                <c:pt idx="12">
                  <c:v>Jan 26</c:v>
                </c:pt>
                <c:pt idx="15">
                  <c:v>Apr 26</c:v>
                </c:pt>
                <c:pt idx="18">
                  <c:v>Jul 26</c:v>
                </c:pt>
                <c:pt idx="21">
                  <c:v>Oct 26</c:v>
                </c:pt>
              </c:strCache>
            </c:strRef>
          </c:cat>
          <c:val>
            <c:numRef>
              <c:f>Sheet1!$B$2:$B$25</c:f>
              <c:numCache>
                <c:formatCode>General</c:formatCode>
                <c:ptCount val="24"/>
                <c:pt idx="20">
                  <c:v>3.770394</c:v>
                </c:pt>
                <c:pt idx="21">
                  <c:v>4.1856109999999997</c:v>
                </c:pt>
                <c:pt idx="22">
                  <c:v>4.5764670000000001</c:v>
                </c:pt>
                <c:pt idx="23">
                  <c:v>4.8626129999999996</c:v>
                </c:pt>
              </c:numCache>
            </c:numRef>
          </c:val>
          <c:smooth val="0"/>
          <c:extLst>
            <c:ext xmlns:c16="http://schemas.microsoft.com/office/drawing/2014/chart" uri="{C3380CC4-5D6E-409C-BE32-E72D297353CC}">
              <c16:uniqueId val="{00000000-F2CB-7A4F-80E2-974F6CCEE755}"/>
            </c:ext>
          </c:extLst>
        </c:ser>
        <c:ser>
          <c:idx val="1"/>
          <c:order val="1"/>
          <c:tx>
            <c:strRef>
              <c:f>Sheet1!$C$1</c:f>
              <c:strCache>
                <c:ptCount val="1"/>
                <c:pt idx="0">
                  <c:v>90% band, lower</c:v>
                </c:pt>
              </c:strCache>
            </c:strRef>
          </c:tx>
          <c:spPr>
            <a:ln w="19050" cap="flat">
              <a:solidFill>
                <a:srgbClr val="87CEFA"/>
              </a:solidFill>
              <a:prstDash val="dash"/>
              <a:round/>
            </a:ln>
            <a:effectLst/>
          </c:spPr>
          <c:marker>
            <c:symbol val="none"/>
          </c:marker>
          <c:cat>
            <c:strRef>
              <c:f>Sheet1!$A$2:$A$25</c:f>
              <c:strCache>
                <c:ptCount val="24"/>
                <c:pt idx="0">
                  <c:v>Jan 25</c:v>
                </c:pt>
                <c:pt idx="3">
                  <c:v>Apr 25</c:v>
                </c:pt>
                <c:pt idx="6">
                  <c:v>Jul 25</c:v>
                </c:pt>
                <c:pt idx="9">
                  <c:v>Oct 25</c:v>
                </c:pt>
                <c:pt idx="12">
                  <c:v>Jan 26</c:v>
                </c:pt>
                <c:pt idx="15">
                  <c:v>Apr 26</c:v>
                </c:pt>
                <c:pt idx="18">
                  <c:v>Jul 26</c:v>
                </c:pt>
                <c:pt idx="21">
                  <c:v>Oct 26</c:v>
                </c:pt>
              </c:strCache>
            </c:strRef>
          </c:cat>
          <c:val>
            <c:numRef>
              <c:f>Sheet1!$C$2:$C$25</c:f>
              <c:numCache>
                <c:formatCode>General</c:formatCode>
                <c:ptCount val="24"/>
                <c:pt idx="20">
                  <c:v>3.770394</c:v>
                </c:pt>
                <c:pt idx="21">
                  <c:v>3.473217</c:v>
                </c:pt>
                <c:pt idx="22">
                  <c:v>3.3644379999999998</c:v>
                </c:pt>
                <c:pt idx="23">
                  <c:v>3.2750650000000001</c:v>
                </c:pt>
              </c:numCache>
            </c:numRef>
          </c:val>
          <c:smooth val="0"/>
          <c:extLst>
            <c:ext xmlns:c16="http://schemas.microsoft.com/office/drawing/2014/chart" uri="{C3380CC4-5D6E-409C-BE32-E72D297353CC}">
              <c16:uniqueId val="{00000001-F2CB-7A4F-80E2-974F6CCEE755}"/>
            </c:ext>
          </c:extLst>
        </c:ser>
        <c:dLbls>
          <c:showLegendKey val="0"/>
          <c:showVal val="0"/>
          <c:showCatName val="0"/>
          <c:showSerName val="0"/>
          <c:showPercent val="0"/>
          <c:showBubbleSize val="0"/>
        </c:dLbls>
        <c:marker val="1"/>
        <c:smooth val="0"/>
        <c:axId val="2094734554"/>
        <c:axId val="2094734552"/>
      </c:lineChart>
      <c:lineChart>
        <c:grouping val="standard"/>
        <c:varyColors val="0"/>
        <c:ser>
          <c:idx val="2"/>
          <c:order val="2"/>
          <c:tx>
            <c:strRef>
              <c:f>Sheet1!$D$1</c:f>
              <c:strCache>
                <c:ptCount val="1"/>
                <c:pt idx="0">
                  <c:v>ECB, Q4</c:v>
                </c:pt>
              </c:strCache>
            </c:strRef>
          </c:tx>
          <c:spPr>
            <a:ln w="19050" cap="flat">
              <a:solidFill>
                <a:srgbClr val="696969"/>
              </a:solidFill>
              <a:prstDash val="sysDash"/>
              <a:round/>
            </a:ln>
            <a:effectLst/>
          </c:spPr>
          <c:marker>
            <c:symbol val="none"/>
          </c:marker>
          <c:cat>
            <c:strRef>
              <c:f>Sheet1!$A$2:$A$25</c:f>
              <c:strCache>
                <c:ptCount val="24"/>
                <c:pt idx="0">
                  <c:v>Jan 25</c:v>
                </c:pt>
                <c:pt idx="3">
                  <c:v>Apr 25</c:v>
                </c:pt>
                <c:pt idx="6">
                  <c:v>Jul 25</c:v>
                </c:pt>
                <c:pt idx="9">
                  <c:v>Oct 25</c:v>
                </c:pt>
                <c:pt idx="12">
                  <c:v>Jan 26</c:v>
                </c:pt>
                <c:pt idx="15">
                  <c:v>Apr 26</c:v>
                </c:pt>
                <c:pt idx="18">
                  <c:v>Jul 26</c:v>
                </c:pt>
                <c:pt idx="21">
                  <c:v>Oct 26</c:v>
                </c:pt>
              </c:strCache>
            </c:strRef>
          </c:cat>
          <c:val>
            <c:numRef>
              <c:f>Sheet1!$D$2:$D$25</c:f>
              <c:numCache>
                <c:formatCode>General</c:formatCode>
                <c:ptCount val="24"/>
                <c:pt idx="21">
                  <c:v>3.6</c:v>
                </c:pt>
                <c:pt idx="22">
                  <c:v>3.6</c:v>
                </c:pt>
                <c:pt idx="23">
                  <c:v>3.6</c:v>
                </c:pt>
              </c:numCache>
            </c:numRef>
          </c:val>
          <c:smooth val="0"/>
          <c:extLst>
            <c:ext xmlns:c16="http://schemas.microsoft.com/office/drawing/2014/chart" uri="{C3380CC4-5D6E-409C-BE32-E72D297353CC}">
              <c16:uniqueId val="{00000002-F2CB-7A4F-80E2-974F6CCEE755}"/>
            </c:ext>
          </c:extLst>
        </c:ser>
        <c:dLbls>
          <c:showLegendKey val="0"/>
          <c:showVal val="0"/>
          <c:showCatName val="0"/>
          <c:showSerName val="0"/>
          <c:showPercent val="0"/>
          <c:showBubbleSize val="0"/>
        </c:dLbls>
        <c:marker val="1"/>
        <c:smooth val="0"/>
        <c:axId val="2094734554"/>
        <c:axId val="2094734552"/>
      </c:lineChart>
      <c:lineChart>
        <c:grouping val="standard"/>
        <c:varyColors val="0"/>
        <c:ser>
          <c:idx val="3"/>
          <c:order val="3"/>
          <c:tx>
            <c:strRef>
              <c:f>Sheet1!$E$1</c:f>
              <c:strCache>
                <c:ptCount val="1"/>
                <c:pt idx="0">
                  <c:v>Actual</c:v>
                </c:pt>
              </c:strCache>
            </c:strRef>
          </c:tx>
          <c:spPr>
            <a:ln w="28575" cap="flat">
              <a:solidFill>
                <a:srgbClr val="000000"/>
              </a:solidFill>
              <a:prstDash val="solid"/>
              <a:round/>
            </a:ln>
            <a:effectLst/>
          </c:spPr>
          <c:marker>
            <c:symbol val="none"/>
          </c:marker>
          <c:cat>
            <c:strRef>
              <c:f>Sheet1!$A$2:$A$25</c:f>
              <c:strCache>
                <c:ptCount val="24"/>
                <c:pt idx="0">
                  <c:v>Jan 25</c:v>
                </c:pt>
                <c:pt idx="3">
                  <c:v>Apr 25</c:v>
                </c:pt>
                <c:pt idx="6">
                  <c:v>Jul 25</c:v>
                </c:pt>
                <c:pt idx="9">
                  <c:v>Oct 25</c:v>
                </c:pt>
                <c:pt idx="12">
                  <c:v>Jan 26</c:v>
                </c:pt>
                <c:pt idx="15">
                  <c:v>Apr 26</c:v>
                </c:pt>
                <c:pt idx="18">
                  <c:v>Jul 26</c:v>
                </c:pt>
                <c:pt idx="21">
                  <c:v>Oct 26</c:v>
                </c:pt>
              </c:strCache>
            </c:strRef>
          </c:cat>
          <c:val>
            <c:numRef>
              <c:f>Sheet1!$E$2:$E$25</c:f>
              <c:numCache>
                <c:formatCode>General</c:formatCode>
                <c:ptCount val="24"/>
                <c:pt idx="0">
                  <c:v>2.5208330000000001</c:v>
                </c:pt>
                <c:pt idx="1">
                  <c:v>2.3188409999999999</c:v>
                </c:pt>
                <c:pt idx="2">
                  <c:v>2.1781570000000001</c:v>
                </c:pt>
                <c:pt idx="3">
                  <c:v>2.1656960000000001</c:v>
                </c:pt>
                <c:pt idx="4">
                  <c:v>1.8960239999999999</c:v>
                </c:pt>
                <c:pt idx="5">
                  <c:v>1.983522</c:v>
                </c:pt>
                <c:pt idx="6">
                  <c:v>2.0347949999999999</c:v>
                </c:pt>
                <c:pt idx="7">
                  <c:v>2.042268</c:v>
                </c:pt>
                <c:pt idx="8">
                  <c:v>2.2271939999999999</c:v>
                </c:pt>
                <c:pt idx="9">
                  <c:v>2.0979019999999999</c:v>
                </c:pt>
                <c:pt idx="10">
                  <c:v>2.1352310000000001</c:v>
                </c:pt>
                <c:pt idx="11">
                  <c:v>1.965751</c:v>
                </c:pt>
                <c:pt idx="12">
                  <c:v>1.6764889999999999</c:v>
                </c:pt>
                <c:pt idx="13">
                  <c:v>1.891947</c:v>
                </c:pt>
                <c:pt idx="14">
                  <c:v>2.5540470000000002</c:v>
                </c:pt>
                <c:pt idx="15">
                  <c:v>3.0296970000000001</c:v>
                </c:pt>
                <c:pt idx="16">
                  <c:v>3.1712690000000001</c:v>
                </c:pt>
                <c:pt idx="17">
                  <c:v>2.7528429999999999</c:v>
                </c:pt>
                <c:pt idx="18">
                  <c:v>2.9414699999999998</c:v>
                </c:pt>
                <c:pt idx="19">
                  <c:v>3.2460420000000001</c:v>
                </c:pt>
                <c:pt idx="20">
                  <c:v>3.770394</c:v>
                </c:pt>
              </c:numCache>
            </c:numRef>
          </c:val>
          <c:smooth val="0"/>
          <c:extLst>
            <c:ext xmlns:c16="http://schemas.microsoft.com/office/drawing/2014/chart" uri="{C3380CC4-5D6E-409C-BE32-E72D297353CC}">
              <c16:uniqueId val="{00000003-F2CB-7A4F-80E2-974F6CCEE755}"/>
            </c:ext>
          </c:extLst>
        </c:ser>
        <c:dLbls>
          <c:showLegendKey val="0"/>
          <c:showVal val="0"/>
          <c:showCatName val="0"/>
          <c:showSerName val="0"/>
          <c:showPercent val="0"/>
          <c:showBubbleSize val="0"/>
        </c:dLbls>
        <c:marker val="1"/>
        <c:smooth val="0"/>
        <c:axId val="2094734554"/>
        <c:axId val="2094734552"/>
      </c:lineChart>
      <c:lineChart>
        <c:grouping val="standard"/>
        <c:varyColors val="0"/>
        <c:ser>
          <c:idx val="4"/>
          <c:order val="4"/>
          <c:tx>
            <c:strRef>
              <c:f>Sheet1!$F$1</c:f>
              <c:strCache>
                <c:ptCount val="1"/>
                <c:pt idx="0">
                  <c:v>Forecast</c:v>
                </c:pt>
              </c:strCache>
            </c:strRef>
          </c:tx>
          <c:spPr>
            <a:ln w="28575" cap="flat">
              <a:solidFill>
                <a:srgbClr val="4169E1"/>
              </a:solidFill>
              <a:prstDash val="solid"/>
              <a:round/>
            </a:ln>
            <a:effectLst/>
          </c:spPr>
          <c:marker>
            <c:symbol val="circle"/>
            <c:size val="7"/>
            <c:spPr>
              <a:solidFill>
                <a:srgbClr val="4169E1"/>
              </a:solidFill>
              <a:ln w="9525" cap="flat">
                <a:solidFill>
                  <a:srgbClr val="4169E1"/>
                </a:solidFill>
                <a:prstDash val="solid"/>
                <a:round/>
              </a:ln>
              <a:effectLst/>
            </c:spPr>
          </c:marker>
          <c:cat>
            <c:strRef>
              <c:f>Sheet1!$A$2:$A$25</c:f>
              <c:strCache>
                <c:ptCount val="24"/>
                <c:pt idx="0">
                  <c:v>Jan 25</c:v>
                </c:pt>
                <c:pt idx="3">
                  <c:v>Apr 25</c:v>
                </c:pt>
                <c:pt idx="6">
                  <c:v>Jul 25</c:v>
                </c:pt>
                <c:pt idx="9">
                  <c:v>Oct 25</c:v>
                </c:pt>
                <c:pt idx="12">
                  <c:v>Jan 26</c:v>
                </c:pt>
                <c:pt idx="15">
                  <c:v>Apr 26</c:v>
                </c:pt>
                <c:pt idx="18">
                  <c:v>Jul 26</c:v>
                </c:pt>
                <c:pt idx="21">
                  <c:v>Oct 26</c:v>
                </c:pt>
              </c:strCache>
            </c:strRef>
          </c:cat>
          <c:val>
            <c:numRef>
              <c:f>Sheet1!$F$2:$F$25</c:f>
              <c:numCache>
                <c:formatCode>General</c:formatCode>
                <c:ptCount val="24"/>
                <c:pt idx="20">
                  <c:v>3.770394</c:v>
                </c:pt>
                <c:pt idx="21">
                  <c:v>3.8487390000000001</c:v>
                </c:pt>
                <c:pt idx="22">
                  <c:v>3.8797549999999998</c:v>
                </c:pt>
                <c:pt idx="23">
                  <c:v>3.9790239999999999</c:v>
                </c:pt>
              </c:numCache>
            </c:numRef>
          </c:val>
          <c:smooth val="0"/>
          <c:extLst>
            <c:ext xmlns:c16="http://schemas.microsoft.com/office/drawing/2014/chart" uri="{C3380CC4-5D6E-409C-BE32-E72D297353CC}">
              <c16:uniqueId val="{00000004-F2CB-7A4F-80E2-974F6CCEE755}"/>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DCDCDC"/>
            </a:solidFill>
            <a:prstDash val="solid"/>
            <a:round/>
          </a:ln>
        </c:spPr>
        <c:txPr>
          <a:bodyPr/>
          <a:lstStyle/>
          <a:p>
            <a:pPr>
              <a:defRPr sz="1100" b="0" i="0" u="none" strike="noStrike">
                <a:solidFill>
                  <a:srgbClr val="696969"/>
                </a:solidFill>
                <a:latin typeface="+mn-lt"/>
              </a:defRPr>
            </a:pPr>
            <a:endParaRPr lang="en-US"/>
          </a:p>
        </c:txPr>
        <c:crossAx val="2094734552"/>
        <c:crosses val="autoZero"/>
        <c:auto val="1"/>
        <c:lblAlgn val="ctr"/>
        <c:lblOffset val="100"/>
        <c:noMultiLvlLbl val="1"/>
      </c:catAx>
      <c:valAx>
        <c:axId val="2094734552"/>
        <c:scaling>
          <c:orientation val="minMax"/>
          <c:max val="5"/>
          <c:min val="1.5"/>
        </c:scaling>
        <c:delete val="0"/>
        <c:axPos val="l"/>
        <c:majorGridlines>
          <c:spPr>
            <a:ln w="9525" cap="flat">
              <a:solidFill>
                <a:srgbClr val="DCDCDC"/>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696969"/>
                </a:solidFill>
                <a:latin typeface="+mn-lt"/>
              </a:defRPr>
            </a:pPr>
            <a:endParaRPr lang="en-US"/>
          </a:p>
        </c:txPr>
        <c:crossAx val="2094734554"/>
        <c:crosses val="autoZero"/>
        <c:crossBetween val="between"/>
        <c:majorUnit val="0.5"/>
      </c:valAx>
      <c:spPr>
        <a:noFill/>
        <a:ln>
          <a:noFill/>
        </a:ln>
        <a:effectLst/>
      </c:spPr>
    </c:plotArea>
    <c:plotVisOnly val="1"/>
    <c:dispBlanksAs val="gap"/>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No change</c:v>
                </c:pt>
              </c:strCache>
            </c:strRef>
          </c:tx>
          <c:spPr>
            <a:solidFill>
              <a:srgbClr val="C0C0C0"/>
            </a:solidFill>
            <a:effectLst/>
          </c:spPr>
          <c:invertIfNegative val="0"/>
          <c:dLbls>
            <c:numFmt formatCode="0.00" sourceLinked="0"/>
            <c:spPr>
              <a:noFill/>
              <a:ln>
                <a:noFill/>
              </a:ln>
              <a:effectLst/>
            </c:spPr>
            <c:txPr>
              <a:bodyPr/>
              <a:lstStyle/>
              <a:p>
                <a:pPr>
                  <a:defRPr sz="1100" b="0" i="0" u="none" strike="noStrike">
                    <a:solidFill>
                      <a:srgbClr val="000000"/>
                    </a:solidFill>
                    <a:latin typeface="+mn-lt"/>
                  </a:defRPr>
                </a:pPr>
                <a:endParaRPr lang="en-V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 month ahead</c:v>
                </c:pt>
                <c:pt idx="1">
                  <c:v>2 months ahead</c:v>
                </c:pt>
                <c:pt idx="2">
                  <c:v>3 months ahead</c:v>
                </c:pt>
              </c:strCache>
            </c:strRef>
          </c:cat>
          <c:val>
            <c:numRef>
              <c:f>Sheet1!$B$2:$B$4</c:f>
              <c:numCache>
                <c:formatCode>General</c:formatCode>
                <c:ptCount val="3"/>
                <c:pt idx="0">
                  <c:v>0.41823300000000002</c:v>
                </c:pt>
                <c:pt idx="1">
                  <c:v>0.68497200000000003</c:v>
                </c:pt>
                <c:pt idx="2">
                  <c:v>0.92413999999999996</c:v>
                </c:pt>
              </c:numCache>
            </c:numRef>
          </c:val>
          <c:extLst>
            <c:ext xmlns:c16="http://schemas.microsoft.com/office/drawing/2014/chart" uri="{C3380CC4-5D6E-409C-BE32-E72D297353CC}">
              <c16:uniqueId val="{00000000-AE68-3747-9F74-8FF32F5B1B4D}"/>
            </c:ext>
          </c:extLst>
        </c:ser>
        <c:ser>
          <c:idx val="1"/>
          <c:order val="1"/>
          <c:tx>
            <c:strRef>
              <c:f>Sheet1!$C$1</c:f>
              <c:strCache>
                <c:ptCount val="1"/>
                <c:pt idx="0">
                  <c:v>Direct regression</c:v>
                </c:pt>
              </c:strCache>
            </c:strRef>
          </c:tx>
          <c:spPr>
            <a:solidFill>
              <a:srgbClr val="FF7F50"/>
            </a:solidFill>
            <a:effectLst/>
          </c:spPr>
          <c:invertIfNegative val="0"/>
          <c:dLbls>
            <c:numFmt formatCode="0.00" sourceLinked="0"/>
            <c:spPr>
              <a:noFill/>
              <a:ln>
                <a:noFill/>
              </a:ln>
              <a:effectLst/>
            </c:spPr>
            <c:txPr>
              <a:bodyPr/>
              <a:lstStyle/>
              <a:p>
                <a:pPr>
                  <a:defRPr sz="1100" b="0" i="0" u="none" strike="noStrike">
                    <a:solidFill>
                      <a:srgbClr val="000000"/>
                    </a:solidFill>
                    <a:latin typeface="+mn-lt"/>
                  </a:defRPr>
                </a:pPr>
                <a:endParaRPr lang="en-V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 month ahead</c:v>
                </c:pt>
                <c:pt idx="1">
                  <c:v>2 months ahead</c:v>
                </c:pt>
                <c:pt idx="2">
                  <c:v>3 months ahead</c:v>
                </c:pt>
              </c:strCache>
            </c:strRef>
          </c:cat>
          <c:val>
            <c:numRef>
              <c:f>Sheet1!$C$2:$C$4</c:f>
              <c:numCache>
                <c:formatCode>General</c:formatCode>
                <c:ptCount val="3"/>
                <c:pt idx="0">
                  <c:v>0.26830199999999998</c:v>
                </c:pt>
                <c:pt idx="1">
                  <c:v>0.50660799999999995</c:v>
                </c:pt>
                <c:pt idx="2">
                  <c:v>0.71344600000000002</c:v>
                </c:pt>
              </c:numCache>
            </c:numRef>
          </c:val>
          <c:extLst>
            <c:ext xmlns:c16="http://schemas.microsoft.com/office/drawing/2014/chart" uri="{C3380CC4-5D6E-409C-BE32-E72D297353CC}">
              <c16:uniqueId val="{00000001-AE68-3747-9F74-8FF32F5B1B4D}"/>
            </c:ext>
          </c:extLst>
        </c:ser>
        <c:ser>
          <c:idx val="2"/>
          <c:order val="2"/>
          <c:tx>
            <c:strRef>
              <c:f>Sheet1!$D$1</c:f>
              <c:strCache>
                <c:ptCount val="1"/>
                <c:pt idx="0">
                  <c:v>Bottom-up ridge (chosen)</c:v>
                </c:pt>
              </c:strCache>
            </c:strRef>
          </c:tx>
          <c:spPr>
            <a:solidFill>
              <a:srgbClr val="4169E1"/>
            </a:solidFill>
            <a:effectLst/>
          </c:spPr>
          <c:invertIfNegative val="0"/>
          <c:dLbls>
            <c:numFmt formatCode="0.00" sourceLinked="0"/>
            <c:spPr>
              <a:noFill/>
              <a:ln>
                <a:noFill/>
              </a:ln>
              <a:effectLst/>
            </c:spPr>
            <c:txPr>
              <a:bodyPr/>
              <a:lstStyle/>
              <a:p>
                <a:pPr>
                  <a:defRPr sz="1100" b="0" i="0" u="none" strike="noStrike">
                    <a:solidFill>
                      <a:srgbClr val="000000"/>
                    </a:solidFill>
                    <a:latin typeface="+mn-lt"/>
                  </a:defRPr>
                </a:pPr>
                <a:endParaRPr lang="en-V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 month ahead</c:v>
                </c:pt>
                <c:pt idx="1">
                  <c:v>2 months ahead</c:v>
                </c:pt>
                <c:pt idx="2">
                  <c:v>3 months ahead</c:v>
                </c:pt>
              </c:strCache>
            </c:strRef>
          </c:cat>
          <c:val>
            <c:numRef>
              <c:f>Sheet1!$D$2:$D$4</c:f>
              <c:numCache>
                <c:formatCode>General</c:formatCode>
                <c:ptCount val="3"/>
                <c:pt idx="0">
                  <c:v>0.25158399999999997</c:v>
                </c:pt>
                <c:pt idx="1">
                  <c:v>0.42761700000000002</c:v>
                </c:pt>
                <c:pt idx="2">
                  <c:v>0.58729600000000004</c:v>
                </c:pt>
              </c:numCache>
            </c:numRef>
          </c:val>
          <c:extLst>
            <c:ext xmlns:c16="http://schemas.microsoft.com/office/drawing/2014/chart" uri="{C3380CC4-5D6E-409C-BE32-E72D297353CC}">
              <c16:uniqueId val="{00000002-AE68-3747-9F74-8FF32F5B1B4D}"/>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CDCDC"/>
            </a:solidFill>
            <a:prstDash val="solid"/>
            <a:round/>
          </a:ln>
        </c:spPr>
        <c:txPr>
          <a:bodyPr/>
          <a:lstStyle/>
          <a:p>
            <a:pPr>
              <a:defRPr sz="1100" b="0" i="0" u="none" strike="noStrike">
                <a:solidFill>
                  <a:srgbClr val="696969"/>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100">
              <a:solidFill>
                <a:srgbClr val="696969"/>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Second round as in 2022</c:v>
                </c:pt>
              </c:strCache>
            </c:strRef>
          </c:tx>
          <c:spPr>
            <a:solidFill>
              <a:srgbClr val="87CEFA"/>
            </a:solidFill>
            <a:effectLst/>
          </c:spPr>
          <c:invertIfNegative val="0"/>
          <c:dLbls>
            <c:numFmt formatCode="\+0.00;\-0.00" sourceLinked="0"/>
            <c:spPr>
              <a:noFill/>
              <a:ln>
                <a:noFill/>
              </a:ln>
              <a:effectLst/>
            </c:spPr>
            <c:txPr>
              <a:bodyPr/>
              <a:lstStyle/>
              <a:p>
                <a:pPr>
                  <a:defRPr sz="1100" b="0" i="0" u="none" strike="noStrike">
                    <a:solidFill>
                      <a:srgbClr val="000000"/>
                    </a:solidFill>
                    <a:latin typeface="+mn-lt"/>
                  </a:defRPr>
                </a:pPr>
                <a:endParaRPr lang="en-V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Food up 5% in Germany and France</c:v>
                </c:pt>
                <c:pt idx="1">
                  <c:v>Germany ends its fuel tax cut in January</c:v>
                </c:pt>
                <c:pt idx="2">
                  <c:v>Wholesale gas up 50%</c:v>
                </c:pt>
                <c:pt idx="3">
                  <c:v>Brent up 20%, to $153</c:v>
                </c:pt>
                <c:pt idx="4">
                  <c:v>Brent back to $90, from $127</c:v>
                </c:pt>
              </c:strCache>
            </c:strRef>
          </c:cat>
          <c:val>
            <c:numRef>
              <c:f>Sheet1!$B$2:$B$6</c:f>
              <c:numCache>
                <c:formatCode>General</c:formatCode>
                <c:ptCount val="5"/>
                <c:pt idx="0">
                  <c:v>0.26651200000000003</c:v>
                </c:pt>
                <c:pt idx="1">
                  <c:v>0.110375</c:v>
                </c:pt>
                <c:pt idx="2">
                  <c:v>0.25000099999999997</c:v>
                </c:pt>
                <c:pt idx="3">
                  <c:v>0.51276100000000002</c:v>
                </c:pt>
                <c:pt idx="4">
                  <c:v>-0.99107999999999996</c:v>
                </c:pt>
              </c:numCache>
            </c:numRef>
          </c:val>
          <c:extLst>
            <c:ext xmlns:c16="http://schemas.microsoft.com/office/drawing/2014/chart" uri="{C3380CC4-5D6E-409C-BE32-E72D297353CC}">
              <c16:uniqueId val="{00000000-745C-8741-B1A9-EE96FEDA4FA6}"/>
            </c:ext>
          </c:extLst>
        </c:ser>
        <c:ser>
          <c:idx val="1"/>
          <c:order val="1"/>
          <c:tx>
            <c:strRef>
              <c:f>Sheet1!$C$1</c:f>
              <c:strCache>
                <c:ptCount val="1"/>
                <c:pt idx="0">
                  <c:v>Normal times</c:v>
                </c:pt>
              </c:strCache>
            </c:strRef>
          </c:tx>
          <c:spPr>
            <a:solidFill>
              <a:srgbClr val="4169E1"/>
            </a:solidFill>
            <a:effectLst/>
          </c:spPr>
          <c:invertIfNegative val="0"/>
          <c:dLbls>
            <c:numFmt formatCode="\+0.00;\-0.00" sourceLinked="0"/>
            <c:spPr>
              <a:noFill/>
              <a:ln>
                <a:noFill/>
              </a:ln>
              <a:effectLst/>
            </c:spPr>
            <c:txPr>
              <a:bodyPr/>
              <a:lstStyle/>
              <a:p>
                <a:pPr>
                  <a:defRPr sz="1100" b="0" i="0" u="none" strike="noStrike">
                    <a:solidFill>
                      <a:srgbClr val="000000"/>
                    </a:solidFill>
                    <a:latin typeface="+mn-lt"/>
                  </a:defRPr>
                </a:pPr>
                <a:endParaRPr lang="en-V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Food up 5% in Germany and France</c:v>
                </c:pt>
                <c:pt idx="1">
                  <c:v>Germany ends its fuel tax cut in January</c:v>
                </c:pt>
                <c:pt idx="2">
                  <c:v>Wholesale gas up 50%</c:v>
                </c:pt>
                <c:pt idx="3">
                  <c:v>Brent up 20%, to $153</c:v>
                </c:pt>
                <c:pt idx="4">
                  <c:v>Brent back to $90, from $127</c:v>
                </c:pt>
              </c:strCache>
            </c:strRef>
          </c:cat>
          <c:val>
            <c:numRef>
              <c:f>Sheet1!$C$2:$C$6</c:f>
              <c:numCache>
                <c:formatCode>General</c:formatCode>
                <c:ptCount val="5"/>
                <c:pt idx="0">
                  <c:v>0.26651200000000003</c:v>
                </c:pt>
                <c:pt idx="1">
                  <c:v>8.9978000000000002E-2</c:v>
                </c:pt>
                <c:pt idx="2">
                  <c:v>0.13462299999999999</c:v>
                </c:pt>
                <c:pt idx="3">
                  <c:v>0.408746</c:v>
                </c:pt>
                <c:pt idx="4">
                  <c:v>-0.78321399999999997</c:v>
                </c:pt>
              </c:numCache>
            </c:numRef>
          </c:val>
          <c:extLst>
            <c:ext xmlns:c16="http://schemas.microsoft.com/office/drawing/2014/chart" uri="{C3380CC4-5D6E-409C-BE32-E72D297353CC}">
              <c16:uniqueId val="{00000001-745C-8741-B1A9-EE96FEDA4FA6}"/>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l"/>
        <c:numFmt formatCode="General" sourceLinked="1"/>
        <c:majorTickMark val="out"/>
        <c:minorTickMark val="none"/>
        <c:tickLblPos val="low"/>
        <c:spPr>
          <a:ln w="12700" cap="flat">
            <a:solidFill>
              <a:srgbClr val="696969"/>
            </a:solidFill>
            <a:prstDash val="solid"/>
            <a:round/>
          </a:ln>
        </c:spPr>
        <c:txPr>
          <a:bodyPr/>
          <a:lstStyle/>
          <a:p>
            <a:pPr>
              <a:defRPr sz="1200" b="0" i="0" u="none" strike="noStrike">
                <a:solidFill>
                  <a:srgbClr val="000000"/>
                </a:solidFill>
                <a:latin typeface="+mn-lt"/>
              </a:defRPr>
            </a:pPr>
            <a:endParaRPr lang="en-US"/>
          </a:p>
        </c:txPr>
        <c:crossAx val="2094734552"/>
        <c:crosses val="autoZero"/>
        <c:auto val="1"/>
        <c:lblAlgn val="ctr"/>
        <c:lblOffset val="100"/>
        <c:noMultiLvlLbl val="1"/>
      </c:catAx>
      <c:valAx>
        <c:axId val="2094734552"/>
        <c:scaling>
          <c:orientation val="minMax"/>
          <c:max val="0.75"/>
          <c:min val="-1.25"/>
        </c:scaling>
        <c:delete val="1"/>
        <c:axPos val="b"/>
        <c:numFmt formatCode="General" sourceLinked="0"/>
        <c:majorTickMark val="out"/>
        <c:minorTickMark val="none"/>
        <c:tickLblPos val="low"/>
        <c:crossAx val="2094734554"/>
        <c:crosses val="autoZero"/>
        <c:crossBetween val="between"/>
      </c:valAx>
      <c:spPr>
        <a:noFill/>
        <a:ln>
          <a:noFill/>
        </a:ln>
        <a:effectLst/>
      </c:spPr>
    </c:plotArea>
    <c:legend>
      <c:legendPos val="b"/>
      <c:overlay val="0"/>
      <c:txPr>
        <a:bodyPr/>
        <a:lstStyle/>
        <a:p>
          <a:pPr>
            <a:defRPr sz="1100">
              <a:solidFill>
                <a:srgbClr val="696969"/>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Brent in euro</c:v>
                </c:pt>
              </c:strCache>
            </c:strRef>
          </c:tx>
          <c:spPr>
            <a:ln w="28575" cap="flat">
              <a:solidFill>
                <a:srgbClr val="696969"/>
              </a:solidFill>
              <a:prstDash val="solid"/>
              <a:round/>
            </a:ln>
            <a:effectLst/>
          </c:spPr>
          <c:marker>
            <c:symbol val="none"/>
          </c:marker>
          <c:cat>
            <c:strRef>
              <c:f>Sheet1!$A$2:$A$22</c:f>
              <c:strCache>
                <c:ptCount val="21"/>
                <c:pt idx="0">
                  <c:v>25 May</c:v>
                </c:pt>
                <c:pt idx="4">
                  <c:v>22 Jun</c:v>
                </c:pt>
                <c:pt idx="8">
                  <c:v>20 Jul</c:v>
                </c:pt>
                <c:pt idx="12">
                  <c:v>17 Aug</c:v>
                </c:pt>
                <c:pt idx="16">
                  <c:v>14 Sep</c:v>
                </c:pt>
                <c:pt idx="20">
                  <c:v>12 Oct</c:v>
                </c:pt>
              </c:strCache>
            </c:strRef>
          </c:cat>
          <c:val>
            <c:numRef>
              <c:f>Sheet1!$B$2:$B$22</c:f>
              <c:numCache>
                <c:formatCode>General</c:formatCode>
                <c:ptCount val="21"/>
                <c:pt idx="0">
                  <c:v>100</c:v>
                </c:pt>
                <c:pt idx="1">
                  <c:v>101.91200000000001</c:v>
                </c:pt>
                <c:pt idx="2">
                  <c:v>97.298000000000002</c:v>
                </c:pt>
                <c:pt idx="3">
                  <c:v>84.1</c:v>
                </c:pt>
                <c:pt idx="4">
                  <c:v>77.510999999999996</c:v>
                </c:pt>
                <c:pt idx="5">
                  <c:v>73.247</c:v>
                </c:pt>
                <c:pt idx="6">
                  <c:v>76.941999999999993</c:v>
                </c:pt>
                <c:pt idx="7">
                  <c:v>86.983000000000004</c:v>
                </c:pt>
                <c:pt idx="8">
                  <c:v>101.032</c:v>
                </c:pt>
                <c:pt idx="9">
                  <c:v>96.165999999999997</c:v>
                </c:pt>
                <c:pt idx="10">
                  <c:v>91.284999999999997</c:v>
                </c:pt>
                <c:pt idx="11">
                  <c:v>96.022999999999996</c:v>
                </c:pt>
                <c:pt idx="12">
                  <c:v>97.078999999999994</c:v>
                </c:pt>
                <c:pt idx="13">
                  <c:v>92.268000000000001</c:v>
                </c:pt>
                <c:pt idx="14">
                  <c:v>102.378</c:v>
                </c:pt>
                <c:pt idx="15">
                  <c:v>115.366</c:v>
                </c:pt>
                <c:pt idx="16">
                  <c:v>129.23500000000001</c:v>
                </c:pt>
                <c:pt idx="17">
                  <c:v>122.825</c:v>
                </c:pt>
                <c:pt idx="18">
                  <c:v>127.10899999999999</c:v>
                </c:pt>
                <c:pt idx="19">
                  <c:v>136.279</c:v>
                </c:pt>
                <c:pt idx="20">
                  <c:v>136.51900000000001</c:v>
                </c:pt>
              </c:numCache>
            </c:numRef>
          </c:val>
          <c:smooth val="0"/>
          <c:extLst>
            <c:ext xmlns:c16="http://schemas.microsoft.com/office/drawing/2014/chart" uri="{C3380CC4-5D6E-409C-BE32-E72D297353CC}">
              <c16:uniqueId val="{00000000-E2EF-4340-AF47-52F57698BA93}"/>
            </c:ext>
          </c:extLst>
        </c:ser>
        <c:dLbls>
          <c:showLegendKey val="0"/>
          <c:showVal val="0"/>
          <c:showCatName val="0"/>
          <c:showSerName val="0"/>
          <c:showPercent val="0"/>
          <c:showBubbleSize val="0"/>
        </c:dLbls>
        <c:marker val="1"/>
        <c:smooth val="0"/>
        <c:axId val="2094734554"/>
        <c:axId val="2094734552"/>
      </c:lineChart>
      <c:lineChart>
        <c:grouping val="standard"/>
        <c:varyColors val="0"/>
        <c:ser>
          <c:idx val="1"/>
          <c:order val="1"/>
          <c:tx>
            <c:strRef>
              <c:f>Sheet1!$C$1</c:f>
              <c:strCache>
                <c:ptCount val="1"/>
                <c:pt idx="0">
                  <c:v>Pump price with taxes</c:v>
                </c:pt>
              </c:strCache>
            </c:strRef>
          </c:tx>
          <c:spPr>
            <a:ln w="28575" cap="flat">
              <a:solidFill>
                <a:srgbClr val="FF7F50"/>
              </a:solidFill>
              <a:prstDash val="solid"/>
              <a:round/>
            </a:ln>
            <a:effectLst/>
          </c:spPr>
          <c:marker>
            <c:symbol val="circle"/>
            <c:size val="6"/>
            <c:spPr>
              <a:solidFill>
                <a:srgbClr val="FF7F50"/>
              </a:solidFill>
              <a:ln w="9525" cap="flat">
                <a:solidFill>
                  <a:srgbClr val="FF7F50"/>
                </a:solidFill>
                <a:prstDash val="solid"/>
                <a:round/>
              </a:ln>
              <a:effectLst/>
            </c:spPr>
          </c:marker>
          <c:cat>
            <c:strRef>
              <c:f>Sheet1!$A$2:$A$22</c:f>
              <c:strCache>
                <c:ptCount val="21"/>
                <c:pt idx="0">
                  <c:v>25 May</c:v>
                </c:pt>
                <c:pt idx="4">
                  <c:v>22 Jun</c:v>
                </c:pt>
                <c:pt idx="8">
                  <c:v>20 Jul</c:v>
                </c:pt>
                <c:pt idx="12">
                  <c:v>17 Aug</c:v>
                </c:pt>
                <c:pt idx="16">
                  <c:v>14 Sep</c:v>
                </c:pt>
                <c:pt idx="20">
                  <c:v>12 Oct</c:v>
                </c:pt>
              </c:strCache>
            </c:strRef>
          </c:cat>
          <c:val>
            <c:numRef>
              <c:f>Sheet1!$C$2:$C$22</c:f>
              <c:numCache>
                <c:formatCode>General</c:formatCode>
                <c:ptCount val="21"/>
                <c:pt idx="0">
                  <c:v>100</c:v>
                </c:pt>
                <c:pt idx="1">
                  <c:v>97.596000000000004</c:v>
                </c:pt>
                <c:pt idx="2">
                  <c:v>96.242000000000004</c:v>
                </c:pt>
                <c:pt idx="3">
                  <c:v>95.125</c:v>
                </c:pt>
                <c:pt idx="4">
                  <c:v>92.171000000000006</c:v>
                </c:pt>
                <c:pt idx="5">
                  <c:v>91.528999999999996</c:v>
                </c:pt>
                <c:pt idx="6">
                  <c:v>94.108000000000004</c:v>
                </c:pt>
                <c:pt idx="7">
                  <c:v>96.822999999999993</c:v>
                </c:pt>
                <c:pt idx="8">
                  <c:v>100.821</c:v>
                </c:pt>
                <c:pt idx="9">
                  <c:v>103.745</c:v>
                </c:pt>
                <c:pt idx="10">
                  <c:v>104.77</c:v>
                </c:pt>
                <c:pt idx="11">
                  <c:v>103.176</c:v>
                </c:pt>
                <c:pt idx="12">
                  <c:v>105.092</c:v>
                </c:pt>
                <c:pt idx="13">
                  <c:v>106.321</c:v>
                </c:pt>
                <c:pt idx="14">
                  <c:v>105.926</c:v>
                </c:pt>
                <c:pt idx="15">
                  <c:v>108.702</c:v>
                </c:pt>
                <c:pt idx="16">
                  <c:v>110.803</c:v>
                </c:pt>
                <c:pt idx="17">
                  <c:v>113.36499999999999</c:v>
                </c:pt>
                <c:pt idx="18">
                  <c:v>113.86499999999999</c:v>
                </c:pt>
                <c:pt idx="19">
                  <c:v>110.08</c:v>
                </c:pt>
                <c:pt idx="20">
                  <c:v>109.541</c:v>
                </c:pt>
              </c:numCache>
            </c:numRef>
          </c:val>
          <c:smooth val="0"/>
          <c:extLst>
            <c:ext xmlns:c16="http://schemas.microsoft.com/office/drawing/2014/chart" uri="{C3380CC4-5D6E-409C-BE32-E72D297353CC}">
              <c16:uniqueId val="{00000001-E2EF-4340-AF47-52F57698BA93}"/>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DCDCDC"/>
            </a:solidFill>
            <a:prstDash val="solid"/>
            <a:round/>
          </a:ln>
        </c:spPr>
        <c:txPr>
          <a:bodyPr/>
          <a:lstStyle/>
          <a:p>
            <a:pPr>
              <a:defRPr sz="1100" b="0" i="0" u="none" strike="noStrike">
                <a:solidFill>
                  <a:srgbClr val="696969"/>
                </a:solidFill>
                <a:latin typeface="+mn-lt"/>
              </a:defRPr>
            </a:pPr>
            <a:endParaRPr lang="en-US"/>
          </a:p>
        </c:txPr>
        <c:crossAx val="2094734552"/>
        <c:crosses val="autoZero"/>
        <c:auto val="1"/>
        <c:lblAlgn val="ctr"/>
        <c:lblOffset val="100"/>
        <c:noMultiLvlLbl val="1"/>
      </c:catAx>
      <c:valAx>
        <c:axId val="2094734552"/>
        <c:scaling>
          <c:orientation val="minMax"/>
          <c:max val="140"/>
          <c:min val="60"/>
        </c:scaling>
        <c:delete val="0"/>
        <c:axPos val="l"/>
        <c:majorGridlines>
          <c:spPr>
            <a:ln w="9525" cap="flat">
              <a:solidFill>
                <a:srgbClr val="DCDCDC"/>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696969"/>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100">
              <a:solidFill>
                <a:srgbClr val="696969"/>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5677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was 3.8% in September, energy 18.9%. My forecast is 3.85, 3.88 and 3.98 for October to December, so Q4 averages 3.90. The rise to December comes from the new months, the base effect is slightly negative. The ECB has 3.6 for Q4, but it assumed oil at about 88 dollars. If I give my model 90 dollar oil it comes out at 3.67, and it needs about 81 dollars to land exactly on 3.6. So the difference is mostly the oil assumption.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modelling I wanted to know I could reproduce Eurostat. I rebuild the euro area index five ways with the official chain-linking and the gaps are at most 0.04 pp, which is rounding. Two things from the data that shaped the model: the HICP is not revised, so a real-time backtest is clean, and pump prices track the fuel index almost one for one, so I use them as a nowcast.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goes bottom-up: six groups, each with its own lags, the other groups, oil, pump prices, gas, business surveys and Easter, shrunk with a ridge penalty. Splitting by group is about 10% better than a regression on the headline. The surveys help most: without them the error rises 11%, without pump prices 8%. The weak spot is 2021-23, when the band was far too narrow.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is the same chain-linking as the checks, so a shock to German fuel reaches the headline with Germany's weight and fuel's weight in Germany. Pass-through comes from local projections. The big open question is the second round: with 2020-23 in the sample it is about three times larger, so the dashboard shows both and lets the user choose.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calls the same code as the pipeline. The clean test is still ahead: the October forecast is saved and the flash comes on 4 November. The fuel gap is the thing I would watch: pump prices fell with the German and Spanish tax cuts while my model leans on Brent, which rose.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548640"/>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endParaRPr lang="en-US" sz="28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tx2"/>
                </a:solidFill>
              </a:rPr>
              <a:t>Tien Dat Hoang  ·  Euro area inflation  ·  October 2026</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hoangdatkt1107/euro_area_hicp"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chart" Target="../charts/chart4.xml"/><Relationship Id="rId4" Type="http://schemas.openxmlformats.org/officeDocument/2006/relationships/hyperlink" Target="https://euro-area-inflation.streamlit.app/"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548640"/>
          </a:xfrm>
          <a:prstGeom prst="rect">
            <a:avLst/>
          </a:prstGeom>
          <a:noFill/>
          <a:ln/>
        </p:spPr>
        <p:txBody>
          <a:bodyPr wrap="square" lIns="0" tIns="0" rIns="0" bIns="0" rtlCol="0" anchor="t"/>
          <a:lstStyle/>
          <a:p>
            <a:pPr marL="0" indent="0" algn="l">
              <a:buNone/>
            </a:pPr>
            <a:r>
              <a:rPr lang="en-US" sz="2800" b="1" dirty="0">
                <a:solidFill>
                  <a:schemeClr val="tx1"/>
                </a:solidFill>
              </a:rPr>
              <a:t>Inflation should stay close to 4% until the end of the year</a:t>
            </a:r>
            <a:endParaRPr lang="en-US" sz="2800" dirty="0"/>
          </a:p>
        </p:txBody>
      </p:sp>
      <p:sp>
        <p:nvSpPr>
          <p:cNvPr id="3" name="Subtitle"/>
          <p:cNvSpPr txBox="1"/>
          <p:nvPr/>
        </p:nvSpPr>
        <p:spPr>
          <a:xfrm>
            <a:off x="548640" y="960120"/>
            <a:ext cx="11091672" cy="320040"/>
          </a:xfrm>
          <a:prstGeom prst="rect">
            <a:avLst/>
          </a:prstGeom>
          <a:noFill/>
          <a:ln/>
        </p:spPr>
        <p:txBody>
          <a:bodyPr wrap="square" lIns="0" tIns="0" rIns="0" bIns="0" rtlCol="0" anchor="ctr"/>
          <a:lstStyle/>
          <a:p>
            <a:pPr marL="0" indent="0">
              <a:buNone/>
            </a:pPr>
            <a:r>
              <a:rPr lang="en-US" sz="1400" dirty="0">
                <a:solidFill>
                  <a:schemeClr val="tx2"/>
                </a:solidFill>
              </a:rPr>
              <a:t>Euro area HICP, annual rate, %. Forecast made on 20 October 2026 with data to September.</a:t>
            </a:r>
            <a:endParaRPr lang="en-US" sz="1400" dirty="0"/>
          </a:p>
        </p:txBody>
      </p:sp>
      <p:sp>
        <p:nvSpPr>
          <p:cNvPr id="4" name="Legend line Actual"/>
          <p:cNvSpPr/>
          <p:nvPr/>
        </p:nvSpPr>
        <p:spPr>
          <a:xfrm>
            <a:off x="548640" y="1536192"/>
            <a:ext cx="320040" cy="0"/>
          </a:xfrm>
          <a:prstGeom prst="line">
            <a:avLst/>
          </a:prstGeom>
          <a:noFill/>
          <a:ln w="28575">
            <a:solidFill>
              <a:srgbClr val="000000"/>
            </a:solidFill>
            <a:prstDash val="solid"/>
          </a:ln>
        </p:spPr>
        <p:txBody>
          <a:bodyPr/>
          <a:lstStyle/>
          <a:p>
            <a:endParaRPr lang="en-VN"/>
          </a:p>
        </p:txBody>
      </p:sp>
      <p:sp>
        <p:nvSpPr>
          <p:cNvPr id="5" name="Legend Actual"/>
          <p:cNvSpPr txBox="1"/>
          <p:nvPr/>
        </p:nvSpPr>
        <p:spPr>
          <a:xfrm>
            <a:off x="941832" y="1417320"/>
            <a:ext cx="731520" cy="237744"/>
          </a:xfrm>
          <a:prstGeom prst="rect">
            <a:avLst/>
          </a:prstGeom>
          <a:noFill/>
          <a:ln/>
        </p:spPr>
        <p:txBody>
          <a:bodyPr wrap="square" lIns="0" tIns="0" rIns="0" bIns="0" rtlCol="0" anchor="ctr"/>
          <a:lstStyle/>
          <a:p>
            <a:pPr marL="0" indent="0">
              <a:buNone/>
            </a:pPr>
            <a:r>
              <a:rPr lang="en-US" sz="1100" dirty="0">
                <a:solidFill>
                  <a:schemeClr val="tx2"/>
                </a:solidFill>
              </a:rPr>
              <a:t>Actual</a:t>
            </a:r>
            <a:endParaRPr lang="en-US" sz="1100" dirty="0"/>
          </a:p>
        </p:txBody>
      </p:sp>
      <p:sp>
        <p:nvSpPr>
          <p:cNvPr id="6" name="Legend line Forecast"/>
          <p:cNvSpPr/>
          <p:nvPr/>
        </p:nvSpPr>
        <p:spPr>
          <a:xfrm>
            <a:off x="1783080" y="1536192"/>
            <a:ext cx="320040" cy="0"/>
          </a:xfrm>
          <a:prstGeom prst="line">
            <a:avLst/>
          </a:prstGeom>
          <a:noFill/>
          <a:ln w="28575">
            <a:solidFill>
              <a:srgbClr val="4169E1"/>
            </a:solidFill>
            <a:prstDash val="solid"/>
          </a:ln>
        </p:spPr>
        <p:txBody>
          <a:bodyPr/>
          <a:lstStyle/>
          <a:p>
            <a:endParaRPr lang="en-VN"/>
          </a:p>
        </p:txBody>
      </p:sp>
      <p:sp>
        <p:nvSpPr>
          <p:cNvPr id="7" name="Legend Forecast"/>
          <p:cNvSpPr txBox="1"/>
          <p:nvPr/>
        </p:nvSpPr>
        <p:spPr>
          <a:xfrm>
            <a:off x="2176272" y="1417320"/>
            <a:ext cx="822960" cy="237744"/>
          </a:xfrm>
          <a:prstGeom prst="rect">
            <a:avLst/>
          </a:prstGeom>
          <a:noFill/>
          <a:ln/>
        </p:spPr>
        <p:txBody>
          <a:bodyPr wrap="square" lIns="0" tIns="0" rIns="0" bIns="0" rtlCol="0" anchor="ctr"/>
          <a:lstStyle/>
          <a:p>
            <a:pPr marL="0" indent="0">
              <a:buNone/>
            </a:pPr>
            <a:r>
              <a:rPr lang="en-US" sz="1100" dirty="0">
                <a:solidFill>
                  <a:schemeClr val="tx2"/>
                </a:solidFill>
              </a:rPr>
              <a:t>Forecast</a:t>
            </a:r>
            <a:endParaRPr lang="en-US" sz="1100" dirty="0"/>
          </a:p>
        </p:txBody>
      </p:sp>
      <p:sp>
        <p:nvSpPr>
          <p:cNvPr id="8" name="Legend line 90% band"/>
          <p:cNvSpPr/>
          <p:nvPr/>
        </p:nvSpPr>
        <p:spPr>
          <a:xfrm>
            <a:off x="3108960" y="1536192"/>
            <a:ext cx="320040" cy="0"/>
          </a:xfrm>
          <a:prstGeom prst="line">
            <a:avLst/>
          </a:prstGeom>
          <a:noFill/>
          <a:ln w="28575">
            <a:solidFill>
              <a:srgbClr val="87CEFA"/>
            </a:solidFill>
            <a:prstDash val="dash"/>
          </a:ln>
        </p:spPr>
        <p:txBody>
          <a:bodyPr/>
          <a:lstStyle/>
          <a:p>
            <a:endParaRPr lang="en-VN"/>
          </a:p>
        </p:txBody>
      </p:sp>
      <p:sp>
        <p:nvSpPr>
          <p:cNvPr id="9" name="Legend 90% band"/>
          <p:cNvSpPr txBox="1"/>
          <p:nvPr/>
        </p:nvSpPr>
        <p:spPr>
          <a:xfrm>
            <a:off x="3502152" y="1417320"/>
            <a:ext cx="822960" cy="237744"/>
          </a:xfrm>
          <a:prstGeom prst="rect">
            <a:avLst/>
          </a:prstGeom>
          <a:noFill/>
          <a:ln/>
        </p:spPr>
        <p:txBody>
          <a:bodyPr wrap="square" lIns="0" tIns="0" rIns="0" bIns="0" rtlCol="0" anchor="ctr"/>
          <a:lstStyle/>
          <a:p>
            <a:pPr marL="0" indent="0">
              <a:buNone/>
            </a:pPr>
            <a:r>
              <a:rPr lang="en-US" sz="1100" dirty="0">
                <a:solidFill>
                  <a:schemeClr val="tx2"/>
                </a:solidFill>
              </a:rPr>
              <a:t>90% band</a:t>
            </a:r>
            <a:endParaRPr lang="en-US" sz="1100" dirty="0"/>
          </a:p>
        </p:txBody>
      </p:sp>
      <p:sp>
        <p:nvSpPr>
          <p:cNvPr id="10" name="Legend line ECB projection for Q4"/>
          <p:cNvSpPr/>
          <p:nvPr/>
        </p:nvSpPr>
        <p:spPr>
          <a:xfrm>
            <a:off x="4434840" y="1536192"/>
            <a:ext cx="320040" cy="0"/>
          </a:xfrm>
          <a:prstGeom prst="line">
            <a:avLst/>
          </a:prstGeom>
          <a:noFill/>
          <a:ln w="28575">
            <a:solidFill>
              <a:srgbClr val="696969"/>
            </a:solidFill>
            <a:prstDash val="sysDash"/>
          </a:ln>
        </p:spPr>
        <p:txBody>
          <a:bodyPr/>
          <a:lstStyle/>
          <a:p>
            <a:endParaRPr lang="en-VN"/>
          </a:p>
        </p:txBody>
      </p:sp>
      <p:sp>
        <p:nvSpPr>
          <p:cNvPr id="11" name="Legend ECB projection for Q4"/>
          <p:cNvSpPr txBox="1"/>
          <p:nvPr/>
        </p:nvSpPr>
        <p:spPr>
          <a:xfrm>
            <a:off x="4828032" y="1417320"/>
            <a:ext cx="1737360" cy="237744"/>
          </a:xfrm>
          <a:prstGeom prst="rect">
            <a:avLst/>
          </a:prstGeom>
          <a:noFill/>
          <a:ln/>
        </p:spPr>
        <p:txBody>
          <a:bodyPr wrap="square" lIns="0" tIns="0" rIns="0" bIns="0" rtlCol="0" anchor="ctr"/>
          <a:lstStyle/>
          <a:p>
            <a:pPr marL="0" indent="0">
              <a:buNone/>
            </a:pPr>
            <a:r>
              <a:rPr lang="en-US" sz="1100" dirty="0">
                <a:solidFill>
                  <a:schemeClr val="tx2"/>
                </a:solidFill>
              </a:rPr>
              <a:t>ECB projection for Q4</a:t>
            </a:r>
            <a:endParaRPr lang="en-US" sz="1100" dirty="0"/>
          </a:p>
        </p:txBody>
      </p:sp>
      <p:graphicFrame>
        <p:nvGraphicFramePr>
          <p:cNvPr id="12" name="Forecast chart"/>
          <p:cNvGraphicFramePr/>
          <p:nvPr/>
        </p:nvGraphicFramePr>
        <p:xfrm>
          <a:off x="548640" y="1783080"/>
          <a:ext cx="704088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13" name="Source"/>
          <p:cNvSpPr txBox="1"/>
          <p:nvPr/>
        </p:nvSpPr>
        <p:spPr>
          <a:xfrm>
            <a:off x="548640" y="5897880"/>
            <a:ext cx="7040880" cy="365760"/>
          </a:xfrm>
          <a:prstGeom prst="rect">
            <a:avLst/>
          </a:prstGeom>
          <a:noFill/>
          <a:ln/>
        </p:spPr>
        <p:txBody>
          <a:bodyPr wrap="square" lIns="0" tIns="0" rIns="0" bIns="0" rtlCol="0" anchor="t"/>
          <a:lstStyle/>
          <a:p>
            <a:pPr marL="0" indent="0">
              <a:buNone/>
            </a:pPr>
            <a:r>
              <a:rPr lang="en-US" sz="1000" dirty="0">
                <a:solidFill>
                  <a:schemeClr val="tx2"/>
                </a:solidFill>
              </a:rPr>
              <a:t>Sources: Eurostat, ECB staff projections September 2026, FRED. The band comes from the model's own past errors.</a:t>
            </a:r>
            <a:endParaRPr lang="en-US" sz="1000" dirty="0"/>
          </a:p>
        </p:txBody>
      </p:sp>
      <p:sp>
        <p:nvSpPr>
          <p:cNvPr id="14" name="Forecast October"/>
          <p:cNvSpPr txBox="1"/>
          <p:nvPr/>
        </p:nvSpPr>
        <p:spPr>
          <a:xfrm>
            <a:off x="8001000" y="1463040"/>
            <a:ext cx="1600200" cy="594360"/>
          </a:xfrm>
          <a:prstGeom prst="rect">
            <a:avLst/>
          </a:prstGeom>
          <a:noFill/>
          <a:ln/>
        </p:spPr>
        <p:txBody>
          <a:bodyPr wrap="square" lIns="0" tIns="0" rIns="0" bIns="0" rtlCol="0" anchor="ctr"/>
          <a:lstStyle/>
          <a:p>
            <a:pPr marL="0" indent="0">
              <a:buNone/>
            </a:pPr>
            <a:r>
              <a:rPr lang="en-US" sz="3400" b="1" dirty="0">
                <a:solidFill>
                  <a:schemeClr val="tx1"/>
                </a:solidFill>
              </a:rPr>
              <a:t>3.85%</a:t>
            </a:r>
            <a:endParaRPr lang="en-US" sz="3400" dirty="0"/>
          </a:p>
        </p:txBody>
      </p:sp>
      <p:sp>
        <p:nvSpPr>
          <p:cNvPr id="15" name="Label October"/>
          <p:cNvSpPr txBox="1"/>
          <p:nvPr/>
        </p:nvSpPr>
        <p:spPr>
          <a:xfrm>
            <a:off x="9692640" y="1463040"/>
            <a:ext cx="1947672" cy="594360"/>
          </a:xfrm>
          <a:prstGeom prst="rect">
            <a:avLst/>
          </a:prstGeom>
          <a:noFill/>
          <a:ln/>
        </p:spPr>
        <p:txBody>
          <a:bodyPr wrap="square" lIns="0" tIns="0" rIns="0" bIns="0" rtlCol="0" anchor="ctr"/>
          <a:lstStyle/>
          <a:p>
            <a:pPr marL="0" indent="0">
              <a:buNone/>
            </a:pPr>
            <a:r>
              <a:rPr lang="en-US" sz="1400" dirty="0">
                <a:solidFill>
                  <a:schemeClr val="tx1"/>
                </a:solidFill>
              </a:rPr>
              <a:t>October</a:t>
            </a:r>
            <a:endParaRPr lang="en-US" sz="1400" dirty="0"/>
          </a:p>
          <a:p>
            <a:pPr marL="0" indent="0">
              <a:buNone/>
            </a:pPr>
            <a:r>
              <a:rPr lang="en-US" sz="1200" dirty="0">
                <a:solidFill>
                  <a:schemeClr val="tx2"/>
                </a:solidFill>
              </a:rPr>
              <a:t>90% band 3.5 to 4.2</a:t>
            </a:r>
            <a:endParaRPr lang="en-US" sz="1400" dirty="0"/>
          </a:p>
        </p:txBody>
      </p:sp>
      <p:sp>
        <p:nvSpPr>
          <p:cNvPr id="16" name="Forecast November"/>
          <p:cNvSpPr txBox="1"/>
          <p:nvPr/>
        </p:nvSpPr>
        <p:spPr>
          <a:xfrm>
            <a:off x="8001000" y="2194560"/>
            <a:ext cx="1600200" cy="594360"/>
          </a:xfrm>
          <a:prstGeom prst="rect">
            <a:avLst/>
          </a:prstGeom>
          <a:noFill/>
          <a:ln/>
        </p:spPr>
        <p:txBody>
          <a:bodyPr wrap="square" lIns="0" tIns="0" rIns="0" bIns="0" rtlCol="0" anchor="ctr"/>
          <a:lstStyle/>
          <a:p>
            <a:pPr marL="0" indent="0">
              <a:buNone/>
            </a:pPr>
            <a:r>
              <a:rPr lang="en-US" sz="3400" b="1" dirty="0">
                <a:solidFill>
                  <a:schemeClr val="tx1"/>
                </a:solidFill>
              </a:rPr>
              <a:t>3.88%</a:t>
            </a:r>
            <a:endParaRPr lang="en-US" sz="3400" dirty="0"/>
          </a:p>
        </p:txBody>
      </p:sp>
      <p:sp>
        <p:nvSpPr>
          <p:cNvPr id="17" name="Label November"/>
          <p:cNvSpPr txBox="1"/>
          <p:nvPr/>
        </p:nvSpPr>
        <p:spPr>
          <a:xfrm>
            <a:off x="9692640" y="2194560"/>
            <a:ext cx="1947672" cy="594360"/>
          </a:xfrm>
          <a:prstGeom prst="rect">
            <a:avLst/>
          </a:prstGeom>
          <a:noFill/>
          <a:ln/>
        </p:spPr>
        <p:txBody>
          <a:bodyPr wrap="square" lIns="0" tIns="0" rIns="0" bIns="0" rtlCol="0" anchor="ctr"/>
          <a:lstStyle/>
          <a:p>
            <a:pPr marL="0" indent="0">
              <a:buNone/>
            </a:pPr>
            <a:r>
              <a:rPr lang="en-US" sz="1400" dirty="0">
                <a:solidFill>
                  <a:schemeClr val="tx1"/>
                </a:solidFill>
              </a:rPr>
              <a:t>November</a:t>
            </a:r>
            <a:endParaRPr lang="en-US" sz="1400" dirty="0"/>
          </a:p>
          <a:p>
            <a:pPr marL="0" indent="0">
              <a:buNone/>
            </a:pPr>
            <a:r>
              <a:rPr lang="en-US" sz="1200" dirty="0">
                <a:solidFill>
                  <a:schemeClr val="tx2"/>
                </a:solidFill>
              </a:rPr>
              <a:t>90% band 3.4 to 4.6</a:t>
            </a:r>
            <a:endParaRPr lang="en-US" sz="1400" dirty="0"/>
          </a:p>
        </p:txBody>
      </p:sp>
      <p:sp>
        <p:nvSpPr>
          <p:cNvPr id="18" name="Forecast December"/>
          <p:cNvSpPr txBox="1"/>
          <p:nvPr/>
        </p:nvSpPr>
        <p:spPr>
          <a:xfrm>
            <a:off x="8001000" y="2926080"/>
            <a:ext cx="1600200" cy="594360"/>
          </a:xfrm>
          <a:prstGeom prst="rect">
            <a:avLst/>
          </a:prstGeom>
          <a:noFill/>
          <a:ln/>
        </p:spPr>
        <p:txBody>
          <a:bodyPr wrap="square" lIns="0" tIns="0" rIns="0" bIns="0" rtlCol="0" anchor="ctr"/>
          <a:lstStyle/>
          <a:p>
            <a:pPr marL="0" indent="0">
              <a:buNone/>
            </a:pPr>
            <a:r>
              <a:rPr lang="en-US" sz="3400" b="1" dirty="0">
                <a:solidFill>
                  <a:schemeClr val="tx1"/>
                </a:solidFill>
              </a:rPr>
              <a:t>3.98%</a:t>
            </a:r>
            <a:endParaRPr lang="en-US" sz="3400" dirty="0"/>
          </a:p>
        </p:txBody>
      </p:sp>
      <p:sp>
        <p:nvSpPr>
          <p:cNvPr id="19" name="Label December"/>
          <p:cNvSpPr txBox="1"/>
          <p:nvPr/>
        </p:nvSpPr>
        <p:spPr>
          <a:xfrm>
            <a:off x="9692640" y="2926080"/>
            <a:ext cx="1947672" cy="594360"/>
          </a:xfrm>
          <a:prstGeom prst="rect">
            <a:avLst/>
          </a:prstGeom>
          <a:noFill/>
          <a:ln/>
        </p:spPr>
        <p:txBody>
          <a:bodyPr wrap="square" lIns="0" tIns="0" rIns="0" bIns="0" rtlCol="0" anchor="ctr"/>
          <a:lstStyle/>
          <a:p>
            <a:pPr marL="0" indent="0">
              <a:buNone/>
            </a:pPr>
            <a:r>
              <a:rPr lang="en-US" sz="1400" dirty="0">
                <a:solidFill>
                  <a:schemeClr val="tx1"/>
                </a:solidFill>
              </a:rPr>
              <a:t>December</a:t>
            </a:r>
            <a:endParaRPr lang="en-US" sz="1400" dirty="0"/>
          </a:p>
          <a:p>
            <a:pPr marL="0" indent="0">
              <a:buNone/>
            </a:pPr>
            <a:r>
              <a:rPr lang="en-US" sz="1200" dirty="0">
                <a:solidFill>
                  <a:schemeClr val="tx2"/>
                </a:solidFill>
              </a:rPr>
              <a:t>90% band 3.3 to 4.9</a:t>
            </a:r>
            <a:endParaRPr lang="en-US" sz="1400" dirty="0"/>
          </a:p>
        </p:txBody>
      </p:sp>
      <p:sp>
        <p:nvSpPr>
          <p:cNvPr id="20" name="Base effect"/>
          <p:cNvSpPr txBox="1"/>
          <p:nvPr/>
        </p:nvSpPr>
        <p:spPr>
          <a:xfrm>
            <a:off x="8001000" y="3703320"/>
            <a:ext cx="3639312" cy="777240"/>
          </a:xfrm>
          <a:prstGeom prst="rect">
            <a:avLst/>
          </a:prstGeom>
          <a:noFill/>
          <a:ln/>
        </p:spPr>
        <p:txBody>
          <a:bodyPr wrap="square" lIns="0" tIns="0" rIns="0" bIns="0" rtlCol="0" anchor="t"/>
          <a:lstStyle/>
          <a:p>
            <a:pPr marL="0" indent="0">
              <a:buNone/>
            </a:pPr>
            <a:r>
              <a:rPr lang="en-US" sz="1400" dirty="0">
                <a:solidFill>
                  <a:schemeClr val="tx1"/>
                </a:solidFill>
              </a:rPr>
              <a:t>From September's 3.77%, the year-ago months dropping out take 0.11 pp off December and the new months add 0.32.</a:t>
            </a:r>
            <a:endParaRPr lang="en-US" sz="1400" dirty="0"/>
          </a:p>
        </p:txBody>
      </p:sp>
      <p:sp>
        <p:nvSpPr>
          <p:cNvPr id="21" name="ECB comparison"/>
          <p:cNvSpPr txBox="1"/>
          <p:nvPr/>
        </p:nvSpPr>
        <p:spPr>
          <a:xfrm>
            <a:off x="8001000" y="4434840"/>
            <a:ext cx="3639312" cy="1371600"/>
          </a:xfrm>
          <a:prstGeom prst="rect">
            <a:avLst/>
          </a:prstGeom>
          <a:noFill/>
          <a:ln/>
        </p:spPr>
        <p:txBody>
          <a:bodyPr wrap="square" lIns="0" tIns="0" rIns="0" bIns="0" rtlCol="0" anchor="t"/>
          <a:lstStyle/>
          <a:p>
            <a:pPr marL="0" indent="0">
              <a:spcAft>
                <a:spcPts val="800"/>
              </a:spcAft>
              <a:buNone/>
            </a:pPr>
            <a:r>
              <a:rPr lang="en-US" sz="1400" dirty="0">
                <a:solidFill>
                  <a:schemeClr val="tx1"/>
                </a:solidFill>
              </a:rPr>
              <a:t>The ECB's September projection has 3.6% for Q4, with oil at about $88. Brent averaged $127 in the first half of October.</a:t>
            </a:r>
            <a:endParaRPr lang="en-US" sz="1400" dirty="0"/>
          </a:p>
          <a:p>
            <a:pPr marL="0" indent="0">
              <a:buNone/>
            </a:pPr>
            <a:r>
              <a:rPr lang="en-US" sz="1400" dirty="0">
                <a:solidFill>
                  <a:schemeClr val="tx1"/>
                </a:solidFill>
              </a:rPr>
              <a:t>To land on the ECB's 3.6%, the same model needs Brent near </a:t>
            </a:r>
            <a:r>
              <a:rPr lang="en-US" sz="1400" b="1" dirty="0">
                <a:solidFill>
                  <a:schemeClr val="tx1"/>
                </a:solidFill>
              </a:rPr>
              <a:t>$81</a:t>
            </a:r>
            <a:r>
              <a:rPr lang="en-US" sz="1400" dirty="0">
                <a:solidFill>
                  <a:schemeClr val="tx1"/>
                </a:solidFill>
              </a:rPr>
              <a:t>. At $90 it gives 3.67%, so most of the gap is the oil price.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548640"/>
          </a:xfrm>
          <a:prstGeom prst="rect">
            <a:avLst/>
          </a:prstGeom>
          <a:noFill/>
          <a:ln/>
        </p:spPr>
        <p:txBody>
          <a:bodyPr wrap="square" lIns="0" tIns="0" rIns="0" bIns="0" rtlCol="0" anchor="t"/>
          <a:lstStyle/>
          <a:p>
            <a:pPr marL="0" indent="0" algn="l">
              <a:buNone/>
            </a:pPr>
            <a:r>
              <a:rPr lang="en-US" sz="2800" b="1" dirty="0">
                <a:solidFill>
                  <a:schemeClr val="tx1"/>
                </a:solidFill>
              </a:rPr>
              <a:t>Rebuilt from its parts, the headline matches Eurostat to within 0.04 pp</a:t>
            </a:r>
            <a:endParaRPr lang="en-US" sz="2800" dirty="0"/>
          </a:p>
        </p:txBody>
      </p:sp>
      <p:sp>
        <p:nvSpPr>
          <p:cNvPr id="3" name="Subtitle"/>
          <p:cNvSpPr txBox="1"/>
          <p:nvPr/>
        </p:nvSpPr>
        <p:spPr>
          <a:xfrm>
            <a:off x="548640" y="960120"/>
            <a:ext cx="11091672" cy="320040"/>
          </a:xfrm>
          <a:prstGeom prst="rect">
            <a:avLst/>
          </a:prstGeom>
          <a:noFill/>
          <a:ln/>
        </p:spPr>
        <p:txBody>
          <a:bodyPr wrap="square" lIns="0" tIns="0" rIns="0" bIns="0" rtlCol="0" anchor="ctr"/>
          <a:lstStyle/>
          <a:p>
            <a:pPr marL="0" indent="0">
              <a:buNone/>
            </a:pPr>
            <a:r>
              <a:rPr lang="en-US" sz="1400" dirty="0">
                <a:solidFill>
                  <a:schemeClr val="tx2"/>
                </a:solidFill>
              </a:rPr>
              <a:t>A pipeline from the Eurostat API that checks itself before anything is modelled.</a:t>
            </a:r>
            <a:endParaRPr lang="en-US" sz="1400" dirty="0"/>
          </a:p>
        </p:txBody>
      </p:sp>
      <p:sp>
        <p:nvSpPr>
          <p:cNvPr id="4" name="Pipeline heading"/>
          <p:cNvSpPr txBox="1"/>
          <p:nvPr/>
        </p:nvSpPr>
        <p:spPr>
          <a:xfrm>
            <a:off x="548640" y="1463040"/>
            <a:ext cx="4846320" cy="320040"/>
          </a:xfrm>
          <a:prstGeom prst="rect">
            <a:avLst/>
          </a:prstGeom>
          <a:noFill/>
          <a:ln/>
        </p:spPr>
        <p:txBody>
          <a:bodyPr wrap="square" lIns="0" tIns="0" rIns="0" bIns="0" rtlCol="0" anchor="ctr"/>
          <a:lstStyle/>
          <a:p>
            <a:pPr marL="0" indent="0">
              <a:buNone/>
            </a:pPr>
            <a:r>
              <a:rPr lang="en-US" sz="1600" b="1" dirty="0">
                <a:solidFill>
                  <a:schemeClr val="tx1"/>
                </a:solidFill>
              </a:rPr>
              <a:t>From the API to the dashboard</a:t>
            </a:r>
            <a:endParaRPr lang="en-US" sz="1600" dirty="0"/>
          </a:p>
        </p:txBody>
      </p:sp>
      <p:sp>
        <p:nvSpPr>
          <p:cNvPr id="5" name="Pipeline steps"/>
          <p:cNvSpPr txBox="1"/>
          <p:nvPr/>
        </p:nvSpPr>
        <p:spPr>
          <a:xfrm>
            <a:off x="548640" y="1874520"/>
            <a:ext cx="4846320" cy="3840480"/>
          </a:xfrm>
          <a:prstGeom prst="rect">
            <a:avLst/>
          </a:prstGeom>
          <a:noFill/>
          <a:ln/>
        </p:spPr>
        <p:txBody>
          <a:bodyPr wrap="square" lIns="0" tIns="0" rIns="0" bIns="0" rtlCol="0" anchor="t"/>
          <a:lstStyle/>
          <a:p>
            <a:pPr marL="0" indent="0">
              <a:buNone/>
            </a:pPr>
            <a:r>
              <a:rPr lang="en-US" sz="1500" b="1" dirty="0">
                <a:solidFill>
                  <a:schemeClr val="tx1"/>
                </a:solidFill>
              </a:rPr>
              <a:t>Pull</a:t>
            </a:r>
            <a:r>
              <a:rPr lang="en-US" sz="1500" dirty="0">
                <a:solidFill>
                  <a:schemeClr val="tx1"/>
                </a:solidFill>
              </a:rPr>
              <a:t> the 5 HICP tables and 3 business surveys from the Eurostat API, plus Brent, EUR/USD, gas and weekly pump prices.</a:t>
            </a:r>
            <a:endParaRPr lang="en-US" sz="1500" dirty="0"/>
          </a:p>
          <a:p>
            <a:pPr marL="0" indent="0">
              <a:buNone/>
            </a:pPr>
            <a:r>
              <a:rPr lang="en-US" sz="1500" b="1" dirty="0">
                <a:solidFill>
                  <a:schemeClr val="tx1"/>
                </a:solidFill>
              </a:rPr>
              <a:t>Keep</a:t>
            </a:r>
            <a:r>
              <a:rPr lang="en-US" sz="1500" dirty="0">
                <a:solidFill>
                  <a:schemeClr val="tx1"/>
                </a:solidFill>
              </a:rPr>
              <a:t> every raw response as it came back, with a new copy only when the source changes.</a:t>
            </a:r>
            <a:endParaRPr lang="en-US" sz="1500" dirty="0"/>
          </a:p>
          <a:p>
            <a:pPr marL="0" indent="0">
              <a:buNone/>
            </a:pPr>
            <a:r>
              <a:rPr lang="en-US" sz="1500" b="1" dirty="0">
                <a:solidFill>
                  <a:schemeClr val="tx1"/>
                </a:solidFill>
              </a:rPr>
              <a:t>Check</a:t>
            </a:r>
            <a:r>
              <a:rPr lang="en-US" sz="1500" dirty="0">
                <a:solidFill>
                  <a:schemeClr val="tx1"/>
                </a:solidFill>
              </a:rPr>
              <a:t> the data, 17 checks in all. One of them holds each year's country weights against who was in the euro, from 11 countries in 1999 to 21 in 2026. Then rebuild the headline from its parts; any failure stops the run.</a:t>
            </a:r>
            <a:endParaRPr lang="en-US" sz="1500" dirty="0"/>
          </a:p>
          <a:p>
            <a:pPr marL="0" indent="0">
              <a:buNone/>
            </a:pPr>
            <a:r>
              <a:rPr lang="en-US" sz="1500" b="1" dirty="0">
                <a:solidFill>
                  <a:schemeClr val="tx1"/>
                </a:solidFill>
              </a:rPr>
              <a:t>Use</a:t>
            </a:r>
            <a:r>
              <a:rPr lang="en-US" sz="1500" dirty="0">
                <a:solidFill>
                  <a:schemeClr val="tx1"/>
                </a:solidFill>
              </a:rPr>
              <a:t> the same tables for the forecast, the shock engine and the dashboard. One command runs it all: python -m src all</a:t>
            </a:r>
            <a:endParaRPr lang="en-US" sz="1500" dirty="0"/>
          </a:p>
        </p:txBody>
      </p:sp>
      <p:sp>
        <p:nvSpPr>
          <p:cNvPr id="6" name="Table heading"/>
          <p:cNvSpPr txBox="1"/>
          <p:nvPr/>
        </p:nvSpPr>
        <p:spPr>
          <a:xfrm>
            <a:off x="5852160" y="1463040"/>
            <a:ext cx="5788152" cy="320040"/>
          </a:xfrm>
          <a:prstGeom prst="rect">
            <a:avLst/>
          </a:prstGeom>
          <a:noFill/>
          <a:ln/>
        </p:spPr>
        <p:txBody>
          <a:bodyPr wrap="square" lIns="0" tIns="0" rIns="0" bIns="0" rtlCol="0" anchor="ctr"/>
          <a:lstStyle/>
          <a:p>
            <a:pPr marL="0" indent="0">
              <a:buNone/>
            </a:pPr>
            <a:r>
              <a:rPr lang="en-US" sz="1600" b="1" dirty="0">
                <a:solidFill>
                  <a:schemeClr val="tx1"/>
                </a:solidFill>
              </a:rPr>
              <a:t>The headline rebuilt from its parts</a:t>
            </a:r>
            <a:endParaRPr lang="en-US" sz="1600" dirty="0"/>
          </a:p>
        </p:txBody>
      </p:sp>
      <p:graphicFrame>
        <p:nvGraphicFramePr>
          <p:cNvPr id="7" name="Validation table"/>
          <p:cNvGraphicFramePr>
            <a:graphicFrameLocks noGrp="1"/>
          </p:cNvGraphicFramePr>
          <p:nvPr>
            <p:extLst>
              <p:ext uri="{D42A27DB-BD31-4B8C-83A1-F6EECF244321}">
                <p14:modId xmlns:p14="http://schemas.microsoft.com/office/powerpoint/2010/main" val="1579011935"/>
              </p:ext>
            </p:extLst>
          </p:nvPr>
        </p:nvGraphicFramePr>
        <p:xfrm>
          <a:off x="5852160" y="1810512"/>
          <a:ext cx="5788152" cy="1920240"/>
        </p:xfrm>
        <a:graphic>
          <a:graphicData uri="http://schemas.openxmlformats.org/drawingml/2006/table">
            <a:tbl>
              <a:tblPr/>
              <a:tblGrid>
                <a:gridCol w="3410712">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274320">
                <a:tc>
                  <a:txBody>
                    <a:bodyPr/>
                    <a:lstStyle/>
                    <a:p>
                      <a:pPr marL="0" indent="0" algn="l">
                        <a:buNone/>
                      </a:pPr>
                      <a:r>
                        <a:rPr lang="en-US" sz="1300" b="1" dirty="0">
                          <a:solidFill>
                            <a:schemeClr val="tx2"/>
                          </a:solidFill>
                          <a:latin typeface="Calibri" pitchFamily="34" charset="0"/>
                          <a:ea typeface="Calibri" pitchFamily="34" charset="-122"/>
                          <a:cs typeface="Calibri" pitchFamily="34" charset="-120"/>
                        </a:rPr>
                        <a:t>Euro area rebuilt from</a:t>
                      </a:r>
                      <a:endParaRPr lang="en-US" sz="1300" dirty="0">
                        <a:latin typeface="Calibri" charset="0"/>
                        <a:ea typeface="Calibri" charset="0"/>
                        <a:cs typeface="Calibri" charset="0"/>
                      </a:endParaRPr>
                    </a:p>
                  </a:txBody>
                  <a:tcPr marL="54864" marR="54864" marT="0" marB="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00" b="1" dirty="0">
                          <a:solidFill>
                            <a:schemeClr val="tx2"/>
                          </a:solidFill>
                          <a:latin typeface="Calibri" pitchFamily="34" charset="0"/>
                          <a:ea typeface="Calibri" pitchFamily="34" charset="-122"/>
                          <a:cs typeface="Calibri" pitchFamily="34" charset="-120"/>
                        </a:rPr>
                        <a:t>months</a:t>
                      </a:r>
                      <a:endParaRPr lang="en-US" sz="1300" dirty="0">
                        <a:latin typeface="Calibri" charset="0"/>
                        <a:ea typeface="Calibri" charset="0"/>
                        <a:cs typeface="Calibri" charset="0"/>
                      </a:endParaRPr>
                    </a:p>
                  </a:txBody>
                  <a:tcPr marL="54864" marR="54864" marT="0" marB="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00" b="1" dirty="0">
                          <a:solidFill>
                            <a:schemeClr val="tx2"/>
                          </a:solidFill>
                          <a:latin typeface="Calibri" pitchFamily="34" charset="0"/>
                          <a:ea typeface="Calibri" pitchFamily="34" charset="-122"/>
                          <a:cs typeface="Calibri" pitchFamily="34" charset="-120"/>
                        </a:rPr>
                        <a:t>largest gap, pp</a:t>
                      </a:r>
                      <a:endParaRPr lang="en-US" sz="1300" dirty="0">
                        <a:latin typeface="Calibri" charset="0"/>
                        <a:ea typeface="Calibri" charset="0"/>
                        <a:cs typeface="Calibri" charset="0"/>
                      </a:endParaRPr>
                    </a:p>
                  </a:txBody>
                  <a:tcPr marL="54864" marR="54864" marT="0" marB="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0"/>
                  </a:ext>
                </a:extLst>
              </a:tr>
              <a:tr h="274320">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the 6 main groups</a:t>
                      </a:r>
                      <a:endParaRPr lang="en-US" sz="1300" dirty="0">
                        <a:latin typeface="Calibri" charset="0"/>
                        <a:ea typeface="Calibri" charset="0"/>
                        <a:cs typeface="Calibri" charset="0"/>
                      </a:endParaRPr>
                    </a:p>
                  </a:txBody>
                  <a:tcPr marL="54864" marR="54864" marT="0" marB="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00" dirty="0">
                          <a:solidFill>
                            <a:schemeClr val="tx1"/>
                          </a:solidFill>
                          <a:latin typeface="Calibri" pitchFamily="34" charset="0"/>
                          <a:ea typeface="Calibri" pitchFamily="34" charset="-122"/>
                          <a:cs typeface="Calibri" pitchFamily="34" charset="-120"/>
                        </a:rPr>
                        <a:t>298</a:t>
                      </a:r>
                      <a:endParaRPr lang="en-US" sz="1300" dirty="0">
                        <a:latin typeface="Calibri" charset="0"/>
                        <a:ea typeface="Calibri" charset="0"/>
                        <a:cs typeface="Calibri" charset="0"/>
                      </a:endParaRPr>
                    </a:p>
                  </a:txBody>
                  <a:tcPr marL="54864" marR="54864" marT="0" marB="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00" dirty="0">
                          <a:solidFill>
                            <a:schemeClr val="tx1"/>
                          </a:solidFill>
                          <a:latin typeface="Calibri" pitchFamily="34" charset="0"/>
                          <a:ea typeface="Calibri" pitchFamily="34" charset="-122"/>
                          <a:cs typeface="Calibri" pitchFamily="34" charset="-120"/>
                        </a:rPr>
                        <a:t>0.030</a:t>
                      </a:r>
                      <a:endParaRPr lang="en-US" sz="1300" dirty="0">
                        <a:latin typeface="Calibri" charset="0"/>
                        <a:ea typeface="Calibri" charset="0"/>
                        <a:cs typeface="Calibri" charset="0"/>
                      </a:endParaRPr>
                    </a:p>
                  </a:txBody>
                  <a:tcPr marL="54864" marR="54864" marT="0" marB="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the 13 COICOP divisions</a:t>
                      </a:r>
                      <a:endParaRPr lang="en-US" sz="1300" dirty="0">
                        <a:latin typeface="Calibri" charset="0"/>
                        <a:ea typeface="Calibri" charset="0"/>
                        <a:cs typeface="Calibri" charset="0"/>
                      </a:endParaRPr>
                    </a:p>
                  </a:txBody>
                  <a:tcPr marL="54864" marR="54864" marT="0" marB="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00" dirty="0">
                          <a:solidFill>
                            <a:schemeClr val="tx1"/>
                          </a:solidFill>
                          <a:latin typeface="Calibri" pitchFamily="34" charset="0"/>
                          <a:ea typeface="Calibri" pitchFamily="34" charset="-122"/>
                          <a:cs typeface="Calibri" pitchFamily="34" charset="-120"/>
                        </a:rPr>
                        <a:t>346</a:t>
                      </a:r>
                      <a:endParaRPr lang="en-US" sz="1300" dirty="0">
                        <a:latin typeface="Calibri" charset="0"/>
                        <a:ea typeface="Calibri" charset="0"/>
                        <a:cs typeface="Calibri" charset="0"/>
                      </a:endParaRPr>
                    </a:p>
                  </a:txBody>
                  <a:tcPr marL="54864" marR="54864" marT="0" marB="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00" dirty="0">
                          <a:solidFill>
                            <a:schemeClr val="tx1"/>
                          </a:solidFill>
                          <a:latin typeface="Calibri" pitchFamily="34" charset="0"/>
                          <a:ea typeface="Calibri" pitchFamily="34" charset="-122"/>
                          <a:cs typeface="Calibri" pitchFamily="34" charset="-120"/>
                        </a:rPr>
                        <a:t>0.019</a:t>
                      </a:r>
                      <a:endParaRPr lang="en-US" sz="1300" dirty="0">
                        <a:latin typeface="Calibri" charset="0"/>
                        <a:ea typeface="Calibri" charset="0"/>
                        <a:cs typeface="Calibri" charset="0"/>
                      </a:endParaRPr>
                    </a:p>
                  </a:txBody>
                  <a:tcPr marL="54864" marR="54864" marT="0" marB="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the 21 country indices</a:t>
                      </a:r>
                      <a:endParaRPr lang="en-US" sz="1300" dirty="0">
                        <a:latin typeface="Calibri" charset="0"/>
                        <a:ea typeface="Calibri" charset="0"/>
                        <a:cs typeface="Calibri" charset="0"/>
                      </a:endParaRPr>
                    </a:p>
                  </a:txBody>
                  <a:tcPr marL="54864" marR="54864" marT="0" marB="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00" dirty="0">
                          <a:solidFill>
                            <a:schemeClr val="tx1"/>
                          </a:solidFill>
                          <a:latin typeface="Calibri" pitchFamily="34" charset="0"/>
                          <a:ea typeface="Calibri" pitchFamily="34" charset="-122"/>
                          <a:cs typeface="Calibri" pitchFamily="34" charset="-120"/>
                        </a:rPr>
                        <a:t>346</a:t>
                      </a:r>
                      <a:endParaRPr lang="en-US" sz="1300" dirty="0">
                        <a:latin typeface="Calibri" charset="0"/>
                        <a:ea typeface="Calibri" charset="0"/>
                        <a:cs typeface="Calibri" charset="0"/>
                      </a:endParaRPr>
                    </a:p>
                  </a:txBody>
                  <a:tcPr marL="54864" marR="54864" marT="0" marB="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00" dirty="0">
                          <a:solidFill>
                            <a:schemeClr val="tx1"/>
                          </a:solidFill>
                          <a:latin typeface="Calibri" pitchFamily="34" charset="0"/>
                          <a:ea typeface="Calibri" pitchFamily="34" charset="-122"/>
                          <a:cs typeface="Calibri" pitchFamily="34" charset="-120"/>
                        </a:rPr>
                        <a:t>0.038</a:t>
                      </a:r>
                      <a:endParaRPr lang="en-US" sz="1300" dirty="0">
                        <a:latin typeface="Calibri" charset="0"/>
                        <a:ea typeface="Calibri" charset="0"/>
                        <a:cs typeface="Calibri" charset="0"/>
                      </a:endParaRPr>
                    </a:p>
                  </a:txBody>
                  <a:tcPr marL="54864" marR="54864" marT="0" marB="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groups within each country</a:t>
                      </a:r>
                      <a:endParaRPr lang="en-US" sz="1300" dirty="0">
                        <a:latin typeface="Calibri" charset="0"/>
                        <a:ea typeface="Calibri" charset="0"/>
                        <a:cs typeface="Calibri" charset="0"/>
                      </a:endParaRPr>
                    </a:p>
                  </a:txBody>
                  <a:tcPr marL="54864" marR="54864" marT="0" marB="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00" dirty="0">
                          <a:solidFill>
                            <a:schemeClr val="tx1"/>
                          </a:solidFill>
                          <a:latin typeface="Calibri" pitchFamily="34" charset="0"/>
                          <a:ea typeface="Calibri" pitchFamily="34" charset="-122"/>
                          <a:cs typeface="Calibri" pitchFamily="34" charset="-120"/>
                        </a:rPr>
                        <a:t>298</a:t>
                      </a:r>
                      <a:endParaRPr lang="en-US" sz="1300" dirty="0">
                        <a:latin typeface="Calibri" charset="0"/>
                        <a:ea typeface="Calibri" charset="0"/>
                        <a:cs typeface="Calibri" charset="0"/>
                      </a:endParaRPr>
                    </a:p>
                  </a:txBody>
                  <a:tcPr marL="54864" marR="54864" marT="0" marB="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00" dirty="0">
                          <a:solidFill>
                            <a:schemeClr val="tx1"/>
                          </a:solidFill>
                          <a:latin typeface="Calibri" pitchFamily="34" charset="0"/>
                          <a:ea typeface="Calibri" pitchFamily="34" charset="-122"/>
                          <a:cs typeface="Calibri" pitchFamily="34" charset="-120"/>
                        </a:rPr>
                        <a:t>0.032</a:t>
                      </a:r>
                      <a:endParaRPr lang="en-US" sz="1300" dirty="0">
                        <a:latin typeface="Calibri" charset="0"/>
                        <a:ea typeface="Calibri" charset="0"/>
                        <a:cs typeface="Calibri" charset="0"/>
                      </a:endParaRPr>
                    </a:p>
                  </a:txBody>
                  <a:tcPr marL="54864" marR="54864" marT="0" marB="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divisions within each country</a:t>
                      </a:r>
                      <a:endParaRPr lang="en-US" sz="1300" dirty="0">
                        <a:latin typeface="Calibri" charset="0"/>
                        <a:ea typeface="Calibri" charset="0"/>
                        <a:cs typeface="Calibri" charset="0"/>
                      </a:endParaRPr>
                    </a:p>
                  </a:txBody>
                  <a:tcPr marL="54864" marR="54864" marT="0" marB="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00" dirty="0">
                          <a:solidFill>
                            <a:schemeClr val="tx1"/>
                          </a:solidFill>
                          <a:latin typeface="Calibri" pitchFamily="34" charset="0"/>
                          <a:ea typeface="Calibri" pitchFamily="34" charset="-122"/>
                          <a:cs typeface="Calibri" pitchFamily="34" charset="-120"/>
                        </a:rPr>
                        <a:t>346</a:t>
                      </a:r>
                      <a:endParaRPr lang="en-US" sz="1300" dirty="0">
                        <a:latin typeface="Calibri" charset="0"/>
                        <a:ea typeface="Calibri" charset="0"/>
                        <a:cs typeface="Calibri" charset="0"/>
                      </a:endParaRPr>
                    </a:p>
                  </a:txBody>
                  <a:tcPr marL="54864" marR="54864" marT="0" marB="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00" dirty="0">
                          <a:solidFill>
                            <a:schemeClr val="tx1"/>
                          </a:solidFill>
                          <a:latin typeface="Calibri" pitchFamily="34" charset="0"/>
                          <a:ea typeface="Calibri" pitchFamily="34" charset="-122"/>
                          <a:cs typeface="Calibri" pitchFamily="34" charset="-120"/>
                        </a:rPr>
                        <a:t>0.026</a:t>
                      </a:r>
                      <a:endParaRPr lang="en-US" sz="1300" dirty="0">
                        <a:latin typeface="Calibri" charset="0"/>
                        <a:ea typeface="Calibri" charset="0"/>
                        <a:cs typeface="Calibri" charset="0"/>
                      </a:endParaRPr>
                    </a:p>
                  </a:txBody>
                  <a:tcPr marL="54864" marR="54864" marT="0" marB="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5"/>
                  </a:ext>
                </a:extLst>
              </a:tr>
              <a:tr h="274320">
                <a:tc>
                  <a:txBody>
                    <a:bodyPr/>
                    <a:lstStyle/>
                    <a:p>
                      <a:pPr marL="0" indent="0">
                        <a:buNone/>
                      </a:pPr>
                      <a:r>
                        <a:rPr lang="en-US" sz="1300" dirty="0">
                          <a:solidFill>
                            <a:schemeClr val="tx1"/>
                          </a:solidFill>
                          <a:latin typeface="Calibri" pitchFamily="34" charset="0"/>
                          <a:ea typeface="Calibri" pitchFamily="34" charset="-122"/>
                          <a:cs typeface="Calibri" pitchFamily="34" charset="-120"/>
                        </a:rPr>
                        <a:t>group contributions, vs Eurostat's</a:t>
                      </a:r>
                      <a:endParaRPr lang="en-US" sz="1300" dirty="0">
                        <a:latin typeface="Calibri" charset="0"/>
                        <a:ea typeface="Calibri" charset="0"/>
                        <a:cs typeface="Calibri" charset="0"/>
                      </a:endParaRPr>
                    </a:p>
                  </a:txBody>
                  <a:tcPr marL="54864" marR="54864" marT="0" marB="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00" dirty="0">
                          <a:solidFill>
                            <a:schemeClr val="tx1"/>
                          </a:solidFill>
                          <a:latin typeface="Calibri" pitchFamily="34" charset="0"/>
                          <a:ea typeface="Calibri" pitchFamily="34" charset="-122"/>
                          <a:cs typeface="Calibri" pitchFamily="34" charset="-120"/>
                        </a:rPr>
                        <a:t>297</a:t>
                      </a:r>
                      <a:endParaRPr lang="en-US" sz="1300" dirty="0">
                        <a:latin typeface="Calibri" charset="0"/>
                        <a:ea typeface="Calibri" charset="0"/>
                        <a:cs typeface="Calibri" charset="0"/>
                      </a:endParaRPr>
                    </a:p>
                  </a:txBody>
                  <a:tcPr marL="54864" marR="54864" marT="0" marB="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tc>
                  <a:txBody>
                    <a:bodyPr/>
                    <a:lstStyle/>
                    <a:p>
                      <a:pPr marL="0" indent="0" algn="r">
                        <a:buNone/>
                      </a:pPr>
                      <a:r>
                        <a:rPr lang="en-US" sz="1300" dirty="0">
                          <a:solidFill>
                            <a:schemeClr val="tx1"/>
                          </a:solidFill>
                          <a:latin typeface="Calibri" pitchFamily="34" charset="0"/>
                          <a:ea typeface="Calibri" pitchFamily="34" charset="-122"/>
                          <a:cs typeface="Calibri" pitchFamily="34" charset="-120"/>
                        </a:rPr>
                        <a:t>0.009</a:t>
                      </a:r>
                      <a:endParaRPr lang="en-US" sz="1300" dirty="0">
                        <a:latin typeface="Calibri" charset="0"/>
                        <a:ea typeface="Calibri" charset="0"/>
                        <a:cs typeface="Calibri" charset="0"/>
                      </a:endParaRPr>
                    </a:p>
                  </a:txBody>
                  <a:tcPr marL="54864" marR="54864" marT="0" marB="0"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Source"/>
          <p:cNvSpPr txBox="1"/>
          <p:nvPr/>
        </p:nvSpPr>
        <p:spPr>
          <a:xfrm>
            <a:off x="5852160" y="3803904"/>
            <a:ext cx="5788152" cy="365760"/>
          </a:xfrm>
          <a:prstGeom prst="rect">
            <a:avLst/>
          </a:prstGeom>
          <a:noFill/>
          <a:ln/>
        </p:spPr>
        <p:txBody>
          <a:bodyPr wrap="square" lIns="0" tIns="0" rIns="0" bIns="0" rtlCol="0" anchor="t"/>
          <a:lstStyle/>
          <a:p>
            <a:pPr marL="0" indent="0">
              <a:buNone/>
            </a:pPr>
            <a:r>
              <a:rPr lang="en-US" sz="1000" dirty="0">
                <a:solidFill>
                  <a:schemeClr val="tx2"/>
                </a:solidFill>
              </a:rPr>
              <a:t>Limit 0.05 pp, 0.02 for contributions. What's left is rounding: official indices have two decimals.</a:t>
            </a:r>
            <a:endParaRPr lang="en-US" sz="1000" dirty="0"/>
          </a:p>
        </p:txBody>
      </p:sp>
      <p:sp>
        <p:nvSpPr>
          <p:cNvPr id="9" name="Data notes"/>
          <p:cNvSpPr txBox="1"/>
          <p:nvPr/>
        </p:nvSpPr>
        <p:spPr>
          <a:xfrm>
            <a:off x="5852160" y="4297680"/>
            <a:ext cx="5788152" cy="1920240"/>
          </a:xfrm>
          <a:prstGeom prst="rect">
            <a:avLst/>
          </a:prstGeom>
          <a:noFill/>
          <a:ln/>
        </p:spPr>
        <p:txBody>
          <a:bodyPr wrap="square" lIns="0" tIns="0" rIns="0" bIns="0" rtlCol="0" anchor="t"/>
          <a:lstStyle/>
          <a:p>
            <a:pPr marL="0" indent="0">
              <a:spcAft>
                <a:spcPts val="400"/>
              </a:spcAft>
              <a:buNone/>
            </a:pPr>
            <a:r>
              <a:rPr lang="en-US" sz="1600" b="1" dirty="0">
                <a:solidFill>
                  <a:schemeClr val="tx1"/>
                </a:solidFill>
              </a:rPr>
              <a:t>Worth knowing about the data</a:t>
            </a:r>
            <a:endParaRPr lang="en-US" sz="1400" dirty="0"/>
          </a:p>
          <a:p>
            <a:pPr marL="177800" indent="-177800">
              <a:spcAft>
                <a:spcPts val="500"/>
              </a:spcAft>
              <a:buSzPct val="100000"/>
              <a:buChar char="•"/>
            </a:pPr>
            <a:r>
              <a:rPr lang="en-US" sz="1400" dirty="0">
                <a:solidFill>
                  <a:schemeClr val="tx1"/>
                </a:solidFill>
              </a:rPr>
              <a:t>Eurostat's old HICP tables stop at December 2025. Everything here uses the new ECOICOP ver.2 ones.</a:t>
            </a:r>
            <a:endParaRPr lang="en-US" sz="1400" dirty="0"/>
          </a:p>
          <a:p>
            <a:pPr marL="177800" indent="-177800">
              <a:spcAft>
                <a:spcPts val="500"/>
              </a:spcAft>
              <a:buSzPct val="100000"/>
              <a:buChar char="•"/>
            </a:pPr>
            <a:r>
              <a:rPr lang="en-US" sz="1400" dirty="0">
                <a:solidFill>
                  <a:schemeClr val="tx1"/>
                </a:solidFill>
              </a:rPr>
              <a:t>Headline rates are not revised after the final release: all 321 months since 2000 match today's figures.</a:t>
            </a:r>
            <a:endParaRPr lang="en-US" sz="1400" dirty="0"/>
          </a:p>
          <a:p>
            <a:pPr marL="177800" indent="-177800">
              <a:spcAft>
                <a:spcPts val="500"/>
              </a:spcAft>
              <a:buSzPct val="100000"/>
              <a:buChar char="•"/>
            </a:pPr>
            <a:r>
              <a:rPr lang="en-US" sz="1400" dirty="0">
                <a:solidFill>
                  <a:schemeClr val="tx1"/>
                </a:solidFill>
              </a:rPr>
              <a:t>Weekly pump prices from the Commission's Oil Bulletin explain 97% of monthly moves in HICP fuels.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548640"/>
          </a:xfrm>
          <a:prstGeom prst="rect">
            <a:avLst/>
          </a:prstGeom>
          <a:noFill/>
          <a:ln/>
        </p:spPr>
        <p:txBody>
          <a:bodyPr wrap="square" lIns="0" tIns="0" rIns="0" bIns="0" rtlCol="0" anchor="t"/>
          <a:lstStyle/>
          <a:p>
            <a:pPr marL="0" indent="0" algn="l">
              <a:buNone/>
            </a:pPr>
            <a:r>
              <a:rPr lang="en-US" sz="2800" b="1" dirty="0">
                <a:solidFill>
                  <a:schemeClr val="tx1"/>
                </a:solidFill>
              </a:rPr>
              <a:t>In a real-time backtest the forecast beats 'no change' by about 40%</a:t>
            </a:r>
            <a:endParaRPr lang="en-US" sz="2800" dirty="0"/>
          </a:p>
        </p:txBody>
      </p:sp>
      <p:sp>
        <p:nvSpPr>
          <p:cNvPr id="3" name="Subtitle"/>
          <p:cNvSpPr txBox="1"/>
          <p:nvPr/>
        </p:nvSpPr>
        <p:spPr>
          <a:xfrm>
            <a:off x="548640" y="960120"/>
            <a:ext cx="11091672" cy="320040"/>
          </a:xfrm>
          <a:prstGeom prst="rect">
            <a:avLst/>
          </a:prstGeom>
          <a:noFill/>
          <a:ln/>
        </p:spPr>
        <p:txBody>
          <a:bodyPr wrap="square" lIns="0" tIns="0" rIns="0" bIns="0" rtlCol="0" anchor="ctr"/>
          <a:lstStyle/>
          <a:p>
            <a:pPr marL="0" indent="0">
              <a:buNone/>
            </a:pPr>
            <a:r>
              <a:rPr lang="en-US" sz="1400" dirty="0">
                <a:solidFill>
                  <a:schemeClr val="tx2"/>
                </a:solidFill>
              </a:rPr>
              <a:t>Forecast error (RMSE), pp of the annual rate. 138 forecasts made between 2015 and 2026.</a:t>
            </a:r>
            <a:endParaRPr lang="en-US" sz="1400" dirty="0"/>
          </a:p>
        </p:txBody>
      </p:sp>
      <p:graphicFrame>
        <p:nvGraphicFramePr>
          <p:cNvPr id="4" name="Backtest chart"/>
          <p:cNvGraphicFramePr/>
          <p:nvPr/>
        </p:nvGraphicFramePr>
        <p:xfrm>
          <a:off x="548640" y="1463040"/>
          <a:ext cx="603504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5" name="Source"/>
          <p:cNvSpPr txBox="1"/>
          <p:nvPr/>
        </p:nvSpPr>
        <p:spPr>
          <a:xfrm>
            <a:off x="548640" y="5897880"/>
            <a:ext cx="6035040" cy="365760"/>
          </a:xfrm>
          <a:prstGeom prst="rect">
            <a:avLst/>
          </a:prstGeom>
          <a:noFill/>
          <a:ln/>
        </p:spPr>
        <p:txBody>
          <a:bodyPr wrap="square" lIns="0" tIns="0" rIns="0" bIns="0" rtlCol="0" anchor="t"/>
          <a:lstStyle/>
          <a:p>
            <a:pPr marL="0" indent="0">
              <a:buNone/>
            </a:pPr>
            <a:r>
              <a:rPr lang="en-US" sz="1000" dirty="0">
                <a:solidFill>
                  <a:schemeClr val="tx2"/>
                </a:solidFill>
              </a:rPr>
              <a:t>Same months for every model, scored against today's data; against first releases the ranking is the same. The plain bottom-up model, not shown, is close behind (0.25, 0.47, 0.64) and the gap is not significant.</a:t>
            </a:r>
            <a:endParaRPr lang="en-US" sz="1000" dirty="0"/>
          </a:p>
        </p:txBody>
      </p:sp>
      <p:sp>
        <p:nvSpPr>
          <p:cNvPr id="6" name="Method notes"/>
          <p:cNvSpPr txBox="1"/>
          <p:nvPr/>
        </p:nvSpPr>
        <p:spPr>
          <a:xfrm>
            <a:off x="6949440" y="1463040"/>
            <a:ext cx="4690872" cy="4663440"/>
          </a:xfrm>
          <a:prstGeom prst="rect">
            <a:avLst/>
          </a:prstGeom>
          <a:noFill/>
          <a:ln/>
        </p:spPr>
        <p:txBody>
          <a:bodyPr wrap="square" lIns="0" tIns="0" rIns="0" bIns="0" rtlCol="0" anchor="t"/>
          <a:lstStyle/>
          <a:p>
            <a:pPr marL="0" indent="0">
              <a:spcAft>
                <a:spcPts val="400"/>
              </a:spcAft>
              <a:buNone/>
            </a:pPr>
            <a:r>
              <a:rPr lang="en-US" sz="1600" b="1" dirty="0">
                <a:solidFill>
                  <a:schemeClr val="tx1"/>
                </a:solidFill>
              </a:rPr>
              <a:t>How it works</a:t>
            </a:r>
            <a:endParaRPr lang="en-US" sz="1400" dirty="0"/>
          </a:p>
          <a:p>
            <a:pPr marL="0" indent="0">
              <a:spcAft>
                <a:spcPts val="500"/>
              </a:spcAft>
              <a:buNone/>
            </a:pPr>
            <a:r>
              <a:rPr lang="en-US" sz="1400" dirty="0">
                <a:solidFill>
                  <a:schemeClr val="tx1"/>
                </a:solidFill>
              </a:rPr>
              <a:t>I forecast next month's price change for each of the 6 main groups and chain them into the headline. The year-ago months dropping out of the annual rate are already known, so only the new months are forecast.</a:t>
            </a:r>
            <a:endParaRPr lang="en-US" sz="1400" dirty="0"/>
          </a:p>
          <a:p>
            <a:pPr marL="0" indent="0">
              <a:spcBef>
                <a:spcPts val="1400"/>
              </a:spcBef>
              <a:spcAft>
                <a:spcPts val="400"/>
              </a:spcAft>
              <a:buNone/>
            </a:pPr>
            <a:r>
              <a:rPr lang="en-US" sz="1600" b="1" dirty="0">
                <a:solidFill>
                  <a:schemeClr val="tx1"/>
                </a:solidFill>
              </a:rPr>
              <a:t>How it was tested</a:t>
            </a:r>
            <a:endParaRPr lang="en-US" sz="1400" dirty="0"/>
          </a:p>
          <a:p>
            <a:pPr marL="177800" indent="-177800">
              <a:spcAft>
                <a:spcPts val="500"/>
              </a:spcAft>
              <a:buSzPct val="100000"/>
              <a:buChar char="•"/>
            </a:pPr>
            <a:r>
              <a:rPr lang="en-US" sz="1400" dirty="0">
                <a:solidFill>
                  <a:schemeClr val="tx1"/>
                </a:solidFill>
              </a:rPr>
              <a:t>Each forecast uses only what was published that day, and a test with poisoned future data makes sure of it.</a:t>
            </a:r>
            <a:endParaRPr lang="en-US" sz="1400" dirty="0"/>
          </a:p>
          <a:p>
            <a:pPr marL="177800" indent="-177800">
              <a:spcAft>
                <a:spcPts val="500"/>
              </a:spcAft>
              <a:buSzPct val="100000"/>
              <a:buChar char="•"/>
            </a:pPr>
            <a:r>
              <a:rPr lang="en-US" sz="1400" dirty="0">
                <a:solidFill>
                  <a:schemeClr val="tx1"/>
                </a:solidFill>
              </a:rPr>
              <a:t>Six models, simplest first, and a rule set before the backtest: lowest average error, ties within 2% go to the simpler one.</a:t>
            </a:r>
            <a:endParaRPr lang="en-US" sz="1400" dirty="0"/>
          </a:p>
          <a:p>
            <a:pPr marL="177800" indent="-177800">
              <a:spcAft>
                <a:spcPts val="500"/>
              </a:spcAft>
              <a:buSzPct val="100000"/>
              <a:buChar char="•"/>
            </a:pPr>
            <a:r>
              <a:rPr lang="en-US" sz="1400" dirty="0">
                <a:solidFill>
                  <a:schemeClr val="tx1"/>
                </a:solidFill>
              </a:rPr>
              <a:t>Picked with 2015-19 data only, the same model still came first on 2020-26.</a:t>
            </a:r>
            <a:endParaRPr lang="en-US" sz="1400" dirty="0"/>
          </a:p>
          <a:p>
            <a:pPr marL="177800" indent="-177800">
              <a:spcAft>
                <a:spcPts val="500"/>
              </a:spcAft>
              <a:buSzPct val="100000"/>
              <a:buChar char="•"/>
            </a:pPr>
            <a:r>
              <a:rPr lang="en-US" sz="1400" dirty="0">
                <a:solidFill>
                  <a:schemeClr val="tx1"/>
                </a:solidFill>
              </a:rPr>
              <a:t>Taking out the business surveys raises the error by 11%, taking out weekly pump prices by 8%. Gas doesn't help.</a:t>
            </a:r>
            <a:endParaRPr lang="en-US" sz="1400" dirty="0"/>
          </a:p>
          <a:p>
            <a:pPr marL="0" indent="0">
              <a:spcBef>
                <a:spcPts val="1400"/>
              </a:spcBef>
              <a:spcAft>
                <a:spcPts val="400"/>
              </a:spcAft>
              <a:buNone/>
            </a:pPr>
            <a:r>
              <a:rPr lang="en-US" sz="1600" b="1" dirty="0">
                <a:solidFill>
                  <a:schemeClr val="tx1"/>
                </a:solidFill>
              </a:rPr>
              <a:t>Where it's weak</a:t>
            </a:r>
            <a:endParaRPr lang="en-US" sz="1400" dirty="0"/>
          </a:p>
          <a:p>
            <a:pPr marL="0" indent="0">
              <a:spcAft>
                <a:spcPts val="500"/>
              </a:spcAft>
              <a:buNone/>
            </a:pPr>
            <a:r>
              <a:rPr lang="en-US" sz="1400" dirty="0">
                <a:solidFill>
                  <a:schemeClr val="tx1"/>
                </a:solidFill>
              </a:rPr>
              <a:t>The 90% band caught 88 to 94% of outcomes outside 2021-23, but only 56 to 67% during the surge.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548640"/>
          </a:xfrm>
          <a:prstGeom prst="rect">
            <a:avLst/>
          </a:prstGeom>
          <a:noFill/>
          <a:ln/>
        </p:spPr>
        <p:txBody>
          <a:bodyPr wrap="square" lIns="0" tIns="0" rIns="0" bIns="0" rtlCol="0" anchor="t"/>
          <a:lstStyle/>
          <a:p>
            <a:pPr marL="0" indent="0" algn="l">
              <a:buNone/>
            </a:pPr>
            <a:r>
              <a:rPr lang="en-US" sz="2800" b="1" dirty="0">
                <a:solidFill>
                  <a:schemeClr val="tx1"/>
                </a:solidFill>
              </a:rPr>
              <a:t>Oil back at $90 would take about 0.8 pp off inflation in 2027</a:t>
            </a:r>
            <a:endParaRPr lang="en-US" sz="2800" dirty="0"/>
          </a:p>
        </p:txBody>
      </p:sp>
      <p:sp>
        <p:nvSpPr>
          <p:cNvPr id="3" name="Subtitle"/>
          <p:cNvSpPr txBox="1"/>
          <p:nvPr/>
        </p:nvSpPr>
        <p:spPr>
          <a:xfrm>
            <a:off x="548640" y="960120"/>
            <a:ext cx="11091672" cy="320040"/>
          </a:xfrm>
          <a:prstGeom prst="rect">
            <a:avLst/>
          </a:prstGeom>
          <a:noFill/>
          <a:ln/>
        </p:spPr>
        <p:txBody>
          <a:bodyPr wrap="square" lIns="0" tIns="0" rIns="0" bIns="0" rtlCol="0" anchor="ctr"/>
          <a:lstStyle/>
          <a:p>
            <a:pPr marL="0" indent="0">
              <a:buNone/>
            </a:pPr>
            <a:r>
              <a:rPr lang="en-US" sz="1400" dirty="0">
                <a:solidFill>
                  <a:schemeClr val="tx2"/>
                </a:solidFill>
              </a:rPr>
              <a:t>Change in the euro area annual rate, 2027 average, pp. Shocks start in November 2026 unless stated.</a:t>
            </a:r>
            <a:endParaRPr lang="en-US" sz="1400" dirty="0"/>
          </a:p>
        </p:txBody>
      </p:sp>
      <p:graphicFrame>
        <p:nvGraphicFramePr>
          <p:cNvPr id="4" name="Shock presets chart"/>
          <p:cNvGraphicFramePr/>
          <p:nvPr/>
        </p:nvGraphicFramePr>
        <p:xfrm>
          <a:off x="548640" y="1463040"/>
          <a:ext cx="640080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5" name="Source"/>
          <p:cNvSpPr txBox="1"/>
          <p:nvPr/>
        </p:nvSpPr>
        <p:spPr>
          <a:xfrm>
            <a:off x="548640" y="5897880"/>
            <a:ext cx="6400800" cy="365760"/>
          </a:xfrm>
          <a:prstGeom prst="rect">
            <a:avLst/>
          </a:prstGeom>
          <a:noFill/>
          <a:ln/>
        </p:spPr>
        <p:txBody>
          <a:bodyPr wrap="square" lIns="0" tIns="0" rIns="0" bIns="0" rtlCol="0" anchor="t"/>
          <a:lstStyle/>
          <a:p>
            <a:pPr marL="0" indent="0">
              <a:buNone/>
            </a:pPr>
            <a:r>
              <a:rPr lang="en-US" sz="1000" dirty="0">
                <a:solidFill>
                  <a:schemeClr val="tx2"/>
                </a:solidFill>
              </a:rPr>
              <a:t>Germany's cut: 16.7 cents a litre on 5 October, read off the Weekly Oil Bulletin. Germany is 27.7% of the euro area basket.</a:t>
            </a:r>
            <a:endParaRPr lang="en-US" sz="1000" dirty="0"/>
          </a:p>
        </p:txBody>
      </p:sp>
      <p:sp>
        <p:nvSpPr>
          <p:cNvPr id="6" name="Simulator notes"/>
          <p:cNvSpPr txBox="1"/>
          <p:nvPr/>
        </p:nvSpPr>
        <p:spPr>
          <a:xfrm>
            <a:off x="7315200" y="1463040"/>
            <a:ext cx="4325112" cy="4663440"/>
          </a:xfrm>
          <a:prstGeom prst="rect">
            <a:avLst/>
          </a:prstGeom>
          <a:noFill/>
          <a:ln/>
        </p:spPr>
        <p:txBody>
          <a:bodyPr wrap="square" lIns="0" tIns="0" rIns="0" bIns="0" rtlCol="0" anchor="t"/>
          <a:lstStyle/>
          <a:p>
            <a:pPr marL="0" indent="0">
              <a:spcAft>
                <a:spcPts val="400"/>
              </a:spcAft>
              <a:buNone/>
            </a:pPr>
            <a:r>
              <a:rPr lang="en-US" sz="1600" b="1" dirty="0">
                <a:solidFill>
                  <a:schemeClr val="tx1"/>
                </a:solidFill>
              </a:rPr>
              <a:t>How the simulator works</a:t>
            </a:r>
            <a:endParaRPr lang="en-US" sz="1400" dirty="0"/>
          </a:p>
          <a:p>
            <a:pPr marL="177800" indent="-177800">
              <a:spcAft>
                <a:spcPts val="500"/>
              </a:spcAft>
              <a:buSzPct val="100000"/>
              <a:buChar char="•"/>
            </a:pPr>
            <a:r>
              <a:rPr lang="en-US" sz="1400" dirty="0">
                <a:solidFill>
                  <a:schemeClr val="tx1"/>
                </a:solidFill>
              </a:rPr>
              <a:t>Shock any of the 6 groups or 13 divisions, in any of the 21 countries, and choose how it moves over time.</a:t>
            </a:r>
            <a:endParaRPr lang="en-US" sz="1400" dirty="0"/>
          </a:p>
          <a:p>
            <a:pPr marL="177800" indent="-177800">
              <a:spcAft>
                <a:spcPts val="500"/>
              </a:spcAft>
              <a:buSzPct val="100000"/>
              <a:buChar char="•"/>
            </a:pPr>
            <a:r>
              <a:rPr lang="en-US" sz="1400" dirty="0">
                <a:solidFill>
                  <a:schemeClr val="tx1"/>
                </a:solidFill>
              </a:rPr>
              <a:t>The direct effect is exact. It runs through each country's and group's weight and Eurostat's December chain-linking, and matches a full rebuild of the index.</a:t>
            </a:r>
            <a:endParaRPr lang="en-US" sz="1400" dirty="0"/>
          </a:p>
          <a:p>
            <a:pPr marL="177800" indent="-177800">
              <a:spcAft>
                <a:spcPts val="500"/>
              </a:spcAft>
              <a:buSzPct val="100000"/>
              <a:buChar char="•"/>
            </a:pPr>
            <a:r>
              <a:rPr lang="en-US" sz="1400" dirty="0">
                <a:solidFill>
                  <a:schemeClr val="tx1"/>
                </a:solidFill>
              </a:rPr>
              <a:t>Oil and gas reach energy prices, then energy feeds food, goods and services over the next year.</a:t>
            </a:r>
            <a:endParaRPr lang="en-US" sz="1400" dirty="0"/>
          </a:p>
          <a:p>
            <a:pPr marL="0" indent="0">
              <a:spcBef>
                <a:spcPts val="1400"/>
              </a:spcBef>
              <a:spcAft>
                <a:spcPts val="400"/>
              </a:spcAft>
              <a:buNone/>
            </a:pPr>
            <a:r>
              <a:rPr lang="en-US" sz="1600" b="1" dirty="0">
                <a:solidFill>
                  <a:schemeClr val="tx1"/>
                </a:solidFill>
              </a:rPr>
              <a:t>What I found</a:t>
            </a:r>
            <a:endParaRPr lang="en-US" sz="1400" dirty="0"/>
          </a:p>
          <a:p>
            <a:pPr marL="177800" indent="-177800">
              <a:spcAft>
                <a:spcPts val="500"/>
              </a:spcAft>
              <a:buSzPct val="100000"/>
              <a:buChar char="•"/>
            </a:pPr>
            <a:r>
              <a:rPr lang="en-US" sz="1400" dirty="0">
                <a:solidFill>
                  <a:schemeClr val="tx1"/>
                </a:solidFill>
              </a:rPr>
              <a:t>One group in one country works too: German fuel prices up 10% add 0.13 pp to the euro area rate in 2027, 0.02 of it through the second round.</a:t>
            </a:r>
            <a:endParaRPr lang="en-US" sz="1400" dirty="0"/>
          </a:p>
          <a:p>
            <a:pPr marL="177800" indent="-177800">
              <a:spcAft>
                <a:spcPts val="500"/>
              </a:spcAft>
              <a:buSzPct val="100000"/>
              <a:buChar char="•"/>
            </a:pPr>
            <a:r>
              <a:rPr lang="en-US" sz="1400" dirty="0">
                <a:solidFill>
                  <a:schemeClr val="tx1"/>
                </a:solidFill>
              </a:rPr>
              <a:t>Brent up 10% for good lifts the price level by about 0.3% after a year in normal times, 0.4% with 2020-23 in the sample.</a:t>
            </a:r>
            <a:endParaRPr lang="en-US" sz="1400" dirty="0"/>
          </a:p>
          <a:p>
            <a:pPr marL="177800" indent="-177800">
              <a:spcAft>
                <a:spcPts val="500"/>
              </a:spcAft>
              <a:buSzPct val="100000"/>
              <a:buChar char="•"/>
            </a:pPr>
            <a:r>
              <a:rPr lang="en-US" sz="1400" dirty="0">
                <a:solidFill>
                  <a:schemeClr val="tx1"/>
                </a:solidFill>
              </a:rPr>
              <a:t>The second round is three times stronger with 2020-23 in the sample: processed food moves 0.17% per 1% on energy, against 0.06% without.</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548640"/>
          </a:xfrm>
          <a:prstGeom prst="rect">
            <a:avLst/>
          </a:prstGeom>
          <a:noFill/>
          <a:ln/>
        </p:spPr>
        <p:txBody>
          <a:bodyPr wrap="square" lIns="0" tIns="0" rIns="0" bIns="0" rtlCol="0" anchor="t"/>
          <a:lstStyle/>
          <a:p>
            <a:pPr marL="0" indent="0" algn="l">
              <a:buNone/>
            </a:pPr>
            <a:r>
              <a:rPr lang="en-US" sz="2800" b="1" dirty="0">
                <a:solidFill>
                  <a:schemeClr val="tx1"/>
                </a:solidFill>
              </a:rPr>
              <a:t>Limits, and what I'd do next</a:t>
            </a:r>
            <a:endParaRPr lang="en-US" sz="2800" dirty="0"/>
          </a:p>
        </p:txBody>
      </p:sp>
      <p:sp>
        <p:nvSpPr>
          <p:cNvPr id="3" name="Subtitle"/>
          <p:cNvSpPr txBox="1"/>
          <p:nvPr/>
        </p:nvSpPr>
        <p:spPr>
          <a:xfrm>
            <a:off x="548640" y="960120"/>
            <a:ext cx="11091672" cy="320040"/>
          </a:xfrm>
          <a:prstGeom prst="rect">
            <a:avLst/>
          </a:prstGeom>
          <a:noFill/>
          <a:ln/>
        </p:spPr>
        <p:txBody>
          <a:bodyPr wrap="square" lIns="0" tIns="0" rIns="0" bIns="0" rtlCol="0" anchor="ctr"/>
          <a:lstStyle/>
          <a:p>
            <a:r>
              <a:rPr lang="en-VN" sz="1400" dirty="0"/>
              <a:t>Code: </a:t>
            </a:r>
            <a:r>
              <a:rPr lang="en-US" sz="1400" dirty="0">
                <a:hlinkClick r:id="rId3"/>
              </a:rPr>
              <a:t>https://github.com/hoangdatkt1107/euro_area_hicp</a:t>
            </a:r>
            <a:r>
              <a:rPr lang="en-VN" sz="1400" dirty="0"/>
              <a:t>. Dashboard: </a:t>
            </a:r>
            <a:r>
              <a:rPr lang="en-US" sz="1400" dirty="0">
                <a:hlinkClick r:id="rId4"/>
              </a:rPr>
              <a:t>https://euro-area-inflation.streamlit.app/</a:t>
            </a:r>
            <a:r>
              <a:rPr lang="en-US" sz="1400" dirty="0"/>
              <a:t>  (</a:t>
            </a:r>
            <a:r>
              <a:rPr lang="en-VN" sz="1400" dirty="0"/>
              <a:t>if it’s asleep, it takes a minute to wake up)</a:t>
            </a:r>
            <a:endParaRPr lang="en-US" sz="1400" dirty="0"/>
          </a:p>
        </p:txBody>
      </p:sp>
      <p:sp>
        <p:nvSpPr>
          <p:cNvPr id="4" name="Pump chart heading"/>
          <p:cNvSpPr txBox="1"/>
          <p:nvPr/>
        </p:nvSpPr>
        <p:spPr>
          <a:xfrm>
            <a:off x="548640" y="1463040"/>
            <a:ext cx="6309360" cy="320040"/>
          </a:xfrm>
          <a:prstGeom prst="rect">
            <a:avLst/>
          </a:prstGeom>
          <a:noFill/>
          <a:ln/>
        </p:spPr>
        <p:txBody>
          <a:bodyPr wrap="square" lIns="0" tIns="0" rIns="0" bIns="0" rtlCol="0" anchor="t"/>
          <a:lstStyle/>
          <a:p>
            <a:pPr marL="0" indent="0">
              <a:buNone/>
            </a:pPr>
            <a:r>
              <a:rPr lang="en-US" sz="1600" b="1" dirty="0">
                <a:solidFill>
                  <a:schemeClr val="tx1"/>
                </a:solidFill>
              </a:rPr>
              <a:t>October: pump prices fell while Brent rose</a:t>
            </a:r>
            <a:endParaRPr lang="en-US" sz="1600" dirty="0"/>
          </a:p>
        </p:txBody>
      </p:sp>
      <p:graphicFrame>
        <p:nvGraphicFramePr>
          <p:cNvPr id="5" name="Pump and Brent chart"/>
          <p:cNvGraphicFramePr/>
          <p:nvPr/>
        </p:nvGraphicFramePr>
        <p:xfrm>
          <a:off x="548640" y="1783080"/>
          <a:ext cx="6309360" cy="2560320"/>
        </p:xfrm>
        <a:graphic>
          <a:graphicData uri="http://schemas.openxmlformats.org/drawingml/2006/chart">
            <c:chart xmlns:c="http://schemas.openxmlformats.org/drawingml/2006/chart" xmlns:r="http://schemas.openxmlformats.org/officeDocument/2006/relationships" r:id="rId5"/>
          </a:graphicData>
        </a:graphic>
      </p:graphicFrame>
      <p:sp>
        <p:nvSpPr>
          <p:cNvPr id="6" name="Source"/>
          <p:cNvSpPr txBox="1"/>
          <p:nvPr/>
        </p:nvSpPr>
        <p:spPr>
          <a:xfrm>
            <a:off x="548640" y="4389120"/>
            <a:ext cx="6309360" cy="365760"/>
          </a:xfrm>
          <a:prstGeom prst="rect">
            <a:avLst/>
          </a:prstGeom>
          <a:noFill/>
          <a:ln/>
        </p:spPr>
        <p:txBody>
          <a:bodyPr wrap="square" lIns="0" tIns="0" rIns="0" bIns="0" rtlCol="0" anchor="t"/>
          <a:lstStyle/>
          <a:p>
            <a:pPr marL="0" indent="0">
              <a:buNone/>
            </a:pPr>
            <a:r>
              <a:rPr lang="en-US" sz="1000" dirty="0">
                <a:solidFill>
                  <a:schemeClr val="tx2"/>
                </a:solidFill>
              </a:rPr>
              <a:t>Petrol and diesel with taxes, euro area average (Weekly Oil Bulletin). Brent in euro (FRED, ECB). 25 May = 100.</a:t>
            </a:r>
            <a:endParaRPr lang="en-US" sz="1000" dirty="0"/>
          </a:p>
        </p:txBody>
      </p:sp>
      <p:sp>
        <p:nvSpPr>
          <p:cNvPr id="7" name="Check box"/>
          <p:cNvSpPr/>
          <p:nvPr/>
        </p:nvSpPr>
        <p:spPr>
          <a:xfrm>
            <a:off x="548640" y="4846320"/>
            <a:ext cx="6309360" cy="1051560"/>
          </a:xfrm>
          <a:prstGeom prst="roundRect">
            <a:avLst>
              <a:gd name="adj" fmla="val 6957"/>
            </a:avLst>
          </a:prstGeom>
          <a:solidFill>
            <a:schemeClr val="accent1">
              <a:alpha val="12000"/>
            </a:schemeClr>
          </a:solidFill>
          <a:ln/>
        </p:spPr>
        <p:txBody>
          <a:bodyPr/>
          <a:lstStyle/>
          <a:p>
            <a:endParaRPr lang="en-VN"/>
          </a:p>
        </p:txBody>
      </p:sp>
      <p:sp>
        <p:nvSpPr>
          <p:cNvPr id="8" name="Check text"/>
          <p:cNvSpPr txBox="1"/>
          <p:nvPr/>
        </p:nvSpPr>
        <p:spPr>
          <a:xfrm>
            <a:off x="777240" y="4983480"/>
            <a:ext cx="5852160" cy="822960"/>
          </a:xfrm>
          <a:prstGeom prst="rect">
            <a:avLst/>
          </a:prstGeom>
          <a:noFill/>
          <a:ln/>
        </p:spPr>
        <p:txBody>
          <a:bodyPr wrap="square" lIns="0" tIns="0" rIns="0" bIns="0" rtlCol="0" anchor="t"/>
          <a:lstStyle/>
          <a:p>
            <a:pPr marL="0" indent="0">
              <a:spcAft>
                <a:spcPts val="400"/>
              </a:spcAft>
              <a:buNone/>
            </a:pPr>
            <a:r>
              <a:rPr lang="en-US" sz="1600" b="1" dirty="0">
                <a:solidFill>
                  <a:schemeClr val="tx1"/>
                </a:solidFill>
              </a:rPr>
              <a:t>Check it on 4 November</a:t>
            </a:r>
            <a:endParaRPr lang="en-US" sz="1600" dirty="0"/>
          </a:p>
          <a:p>
            <a:pPr marL="0" indent="0">
              <a:buNone/>
            </a:pPr>
            <a:r>
              <a:rPr lang="en-US" sz="1400" dirty="0">
                <a:solidFill>
                  <a:schemeClr val="tx1"/>
                </a:solidFill>
              </a:rPr>
              <a:t>My October forecast, saved on 20 October: 3.85%, 90% band 3.5 to 4.2. Eurostat's flash estimate comes out on 4 November.</a:t>
            </a:r>
            <a:endParaRPr lang="en-US" sz="1600" dirty="0"/>
          </a:p>
        </p:txBody>
      </p:sp>
      <p:sp>
        <p:nvSpPr>
          <p:cNvPr id="9" name="Limits and next steps"/>
          <p:cNvSpPr txBox="1"/>
          <p:nvPr/>
        </p:nvSpPr>
        <p:spPr>
          <a:xfrm>
            <a:off x="7315200" y="1463040"/>
            <a:ext cx="4325112" cy="4663440"/>
          </a:xfrm>
          <a:prstGeom prst="rect">
            <a:avLst/>
          </a:prstGeom>
          <a:noFill/>
          <a:ln/>
        </p:spPr>
        <p:txBody>
          <a:bodyPr wrap="square" lIns="0" tIns="0" rIns="0" bIns="0" rtlCol="0" anchor="t"/>
          <a:lstStyle/>
          <a:p>
            <a:pPr marL="0" indent="0">
              <a:spcAft>
                <a:spcPts val="400"/>
              </a:spcAft>
              <a:buNone/>
            </a:pPr>
            <a:r>
              <a:rPr lang="en-US" sz="1600" b="1" dirty="0">
                <a:solidFill>
                  <a:schemeClr val="tx1"/>
                </a:solidFill>
              </a:rPr>
              <a:t>Limits</a:t>
            </a:r>
            <a:endParaRPr lang="en-US" sz="1400" dirty="0"/>
          </a:p>
          <a:p>
            <a:pPr marL="177800" indent="-177800">
              <a:spcAft>
                <a:spcPts val="500"/>
              </a:spcAft>
              <a:buSzPct val="100000"/>
              <a:buChar char="•"/>
            </a:pPr>
            <a:r>
              <a:rPr lang="en-US" sz="1400" dirty="0">
                <a:solidFill>
                  <a:schemeClr val="tx1"/>
                </a:solidFill>
              </a:rPr>
              <a:t>The bands come from past errors, so they were far too narrow in 2021-23.</a:t>
            </a:r>
            <a:endParaRPr lang="en-US" sz="1400" dirty="0"/>
          </a:p>
          <a:p>
            <a:pPr marL="177800" indent="-177800">
              <a:spcAft>
                <a:spcPts val="500"/>
              </a:spcAft>
              <a:buSzPct val="100000"/>
              <a:buChar char="•"/>
            </a:pPr>
            <a:r>
              <a:rPr lang="en-US" sz="1400" dirty="0">
                <a:solidFill>
                  <a:schemeClr val="tx1"/>
                </a:solidFill>
              </a:rPr>
              <a:t>October fuels: pump prices alone say -1.7%, the model +0.1% as it also weighs Brent and the usual October pattern. About 0.1 pp on the headline.</a:t>
            </a:r>
            <a:endParaRPr lang="en-US" sz="1400" dirty="0"/>
          </a:p>
          <a:p>
            <a:pPr marL="177800" indent="-177800">
              <a:spcAft>
                <a:spcPts val="500"/>
              </a:spcAft>
              <a:buSzPct val="100000"/>
              <a:buChar char="•"/>
            </a:pPr>
            <a:r>
              <a:rPr lang="en-US" sz="1400" dirty="0">
                <a:solidFill>
                  <a:schemeClr val="tx1"/>
                </a:solidFill>
              </a:rPr>
              <a:t>No spillover between countries, no wage or wider exchange-rate channel, and 2027 weights are taken equal to 2026.</a:t>
            </a:r>
            <a:endParaRPr lang="en-US" sz="1400" dirty="0"/>
          </a:p>
          <a:p>
            <a:pPr marL="0" indent="0">
              <a:spcBef>
                <a:spcPts val="1400"/>
              </a:spcBef>
              <a:spcAft>
                <a:spcPts val="400"/>
              </a:spcAft>
              <a:buNone/>
            </a:pPr>
            <a:r>
              <a:rPr lang="en-US" sz="1600" b="1" dirty="0">
                <a:solidFill>
                  <a:schemeClr val="tx1"/>
                </a:solidFill>
              </a:rPr>
              <a:t>Next</a:t>
            </a:r>
            <a:endParaRPr lang="en-US" sz="1400" dirty="0"/>
          </a:p>
          <a:p>
            <a:pPr marL="177800" indent="-177800">
              <a:spcAft>
                <a:spcPts val="500"/>
              </a:spcAft>
              <a:buSzPct val="100000"/>
              <a:buChar char="•"/>
            </a:pPr>
            <a:r>
              <a:rPr lang="en-US" sz="1400" dirty="0">
                <a:solidFill>
                  <a:schemeClr val="tx1"/>
                </a:solidFill>
              </a:rPr>
              <a:t>Nowcast with the German, French, Italian and Spanish flash CPIs, which come out just before Eurostat's. Without them the model probably trails the consensus one month ahead.</a:t>
            </a:r>
            <a:endParaRPr lang="en-US" sz="1400" dirty="0"/>
          </a:p>
          <a:p>
            <a:pPr marL="177800" indent="-177800">
              <a:spcAft>
                <a:spcPts val="500"/>
              </a:spcAft>
              <a:buSzPct val="100000"/>
              <a:buChar char="•"/>
            </a:pPr>
            <a:r>
              <a:rPr lang="en-US" sz="1400" dirty="0">
                <a:solidFill>
                  <a:schemeClr val="tx1"/>
                </a:solidFill>
              </a:rPr>
              <a:t>Oil futures and inflation swaps for the energy path.</a:t>
            </a:r>
            <a:endParaRPr lang="en-US" sz="1400" dirty="0"/>
          </a:p>
          <a:p>
            <a:pPr marL="177800" indent="-177800">
              <a:spcAft>
                <a:spcPts val="500"/>
              </a:spcAft>
              <a:buSzPct val="100000"/>
              <a:buChar char="•"/>
            </a:pPr>
            <a:r>
              <a:rPr lang="en-US" sz="1400" dirty="0">
                <a:solidFill>
                  <a:schemeClr val="tx1"/>
                </a:solidFill>
              </a:rPr>
              <a:t>Quantile regression forests through the same backtest, so the bands can widen when volatility jumps.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theme/theme1.xml><?xml version="1.0" encoding="utf-8"?>
<a:theme xmlns:a="http://schemas.openxmlformats.org/drawingml/2006/main" name="HICP">
  <a:themeElements>
    <a:clrScheme name="HICP">
      <a:dk1>
        <a:srgbClr val="000000"/>
      </a:dk1>
      <a:lt1>
        <a:srgbClr val="FFFFFF"/>
      </a:lt1>
      <a:dk2>
        <a:srgbClr val="696969"/>
      </a:dk2>
      <a:lt2>
        <a:srgbClr val="F5F5F5"/>
      </a:lt2>
      <a:accent1>
        <a:srgbClr val="4169E1"/>
      </a:accent1>
      <a:accent2>
        <a:srgbClr val="FF7F50"/>
      </a:accent2>
      <a:accent3>
        <a:srgbClr val="3CB371"/>
      </a:accent3>
      <a:accent4>
        <a:srgbClr val="DAA520"/>
      </a:accent4>
      <a:accent5>
        <a:srgbClr val="DB7093"/>
      </a:accent5>
      <a:accent6>
        <a:srgbClr val="008000"/>
      </a:accent6>
      <a:hlink>
        <a:srgbClr val="4169E1"/>
      </a:hlink>
      <a:folHlink>
        <a:srgbClr val="696969"/>
      </a:folHlink>
    </a:clrScheme>
    <a:fontScheme name="HICP">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854</TotalTime>
  <Words>1570</Words>
  <Application>Microsoft Macintosh PowerPoint</Application>
  <PresentationFormat>Widescreen</PresentationFormat>
  <Paragraphs>105</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HICP</vt:lpstr>
      <vt:lpstr>Inflation should stay close to 4% until the end of the year</vt:lpstr>
      <vt:lpstr>Rebuilt from its parts, the headline matches Eurostat to within 0.04 pp</vt:lpstr>
      <vt:lpstr>In a real-time backtest the forecast beats 'no change' by about 40%</vt:lpstr>
      <vt:lpstr>Oil back at $90 would take about 0.8 pp off inflation in 2027</vt:lpstr>
      <vt:lpstr>Limits, and what I'd do 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Euro area inflation</dc:title>
  <dc:subject>HICP forecast and price shocks</dc:subject>
  <dc:creator>Tien Dat Hoang</dc:creator>
  <cp:lastModifiedBy>Tien Dat Hoang [Student-PECS]</cp:lastModifiedBy>
  <cp:revision>30</cp:revision>
  <dcterms:created xsi:type="dcterms:W3CDTF">2026-10-21T16:01:19Z</dcterms:created>
  <dcterms:modified xsi:type="dcterms:W3CDTF">2026-10-22T11:19:13Z</dcterms:modified>
</cp:coreProperties>
</file>